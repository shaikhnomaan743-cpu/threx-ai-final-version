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34188"/>
            <a:ext cx="9079610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622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57" y="1988629"/>
            <a:ext cx="11269345" cy="2142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0219" y="6488684"/>
            <a:ext cx="1886585" cy="141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985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88" y="0"/>
            <a:ext cx="6373495" cy="6007735"/>
            <a:chOff x="5657088" y="0"/>
            <a:chExt cx="6373495" cy="6007735"/>
          </a:xfrm>
        </p:grpSpPr>
        <p:sp>
          <p:nvSpPr>
            <p:cNvPr id="3" name="object 3"/>
            <p:cNvSpPr/>
            <p:nvPr/>
          </p:nvSpPr>
          <p:spPr>
            <a:xfrm>
              <a:off x="5657088" y="850391"/>
              <a:ext cx="4639310" cy="5157470"/>
            </a:xfrm>
            <a:custGeom>
              <a:avLst/>
              <a:gdLst/>
              <a:ahLst/>
              <a:cxnLst/>
              <a:rect l="l" t="t" r="r" b="b"/>
              <a:pathLst>
                <a:path w="4639309" h="5157470">
                  <a:moveTo>
                    <a:pt x="946150" y="3683889"/>
                  </a:moveTo>
                  <a:lnTo>
                    <a:pt x="943737" y="3659505"/>
                  </a:lnTo>
                  <a:lnTo>
                    <a:pt x="735330" y="3174746"/>
                  </a:lnTo>
                  <a:lnTo>
                    <a:pt x="709422" y="3139440"/>
                  </a:lnTo>
                  <a:lnTo>
                    <a:pt x="673735" y="3126486"/>
                  </a:lnTo>
                  <a:lnTo>
                    <a:pt x="272415" y="3126486"/>
                  </a:lnTo>
                  <a:lnTo>
                    <a:pt x="253492" y="3129788"/>
                  </a:lnTo>
                  <a:lnTo>
                    <a:pt x="221615" y="3154553"/>
                  </a:lnTo>
                  <a:lnTo>
                    <a:pt x="9779" y="3636772"/>
                  </a:lnTo>
                  <a:lnTo>
                    <a:pt x="0" y="3683889"/>
                  </a:lnTo>
                  <a:lnTo>
                    <a:pt x="2413" y="3708273"/>
                  </a:lnTo>
                  <a:lnTo>
                    <a:pt x="210058" y="4193032"/>
                  </a:lnTo>
                  <a:lnTo>
                    <a:pt x="236347" y="4228465"/>
                  </a:lnTo>
                  <a:lnTo>
                    <a:pt x="272415" y="4241419"/>
                  </a:lnTo>
                  <a:lnTo>
                    <a:pt x="673735" y="4241419"/>
                  </a:lnTo>
                  <a:lnTo>
                    <a:pt x="724027" y="4213225"/>
                  </a:lnTo>
                  <a:lnTo>
                    <a:pt x="936358" y="3731133"/>
                  </a:lnTo>
                  <a:lnTo>
                    <a:pt x="946150" y="3683889"/>
                  </a:lnTo>
                  <a:close/>
                </a:path>
                <a:path w="4639309" h="5157470">
                  <a:moveTo>
                    <a:pt x="2248281" y="953770"/>
                  </a:moveTo>
                  <a:lnTo>
                    <a:pt x="2244598" y="916432"/>
                  </a:lnTo>
                  <a:lnTo>
                    <a:pt x="2233422" y="881634"/>
                  </a:lnTo>
                  <a:lnTo>
                    <a:pt x="2097786" y="570230"/>
                  </a:lnTo>
                  <a:lnTo>
                    <a:pt x="1867408" y="570230"/>
                  </a:lnTo>
                  <a:lnTo>
                    <a:pt x="1822323" y="574802"/>
                  </a:lnTo>
                  <a:lnTo>
                    <a:pt x="1779143" y="588137"/>
                  </a:lnTo>
                  <a:lnTo>
                    <a:pt x="1738249" y="609727"/>
                  </a:lnTo>
                  <a:lnTo>
                    <a:pt x="1700530" y="639191"/>
                  </a:lnTo>
                  <a:lnTo>
                    <a:pt x="1666240" y="675894"/>
                  </a:lnTo>
                  <a:lnTo>
                    <a:pt x="1636141" y="719455"/>
                  </a:lnTo>
                  <a:lnTo>
                    <a:pt x="1610741" y="769366"/>
                  </a:lnTo>
                  <a:lnTo>
                    <a:pt x="1167638" y="1791335"/>
                  </a:lnTo>
                  <a:lnTo>
                    <a:pt x="1187577" y="1802511"/>
                  </a:lnTo>
                  <a:lnTo>
                    <a:pt x="1194562" y="1804797"/>
                  </a:lnTo>
                  <a:lnTo>
                    <a:pt x="1201674" y="1806321"/>
                  </a:lnTo>
                  <a:lnTo>
                    <a:pt x="1209040" y="1807337"/>
                  </a:lnTo>
                  <a:lnTo>
                    <a:pt x="1216406" y="1807591"/>
                  </a:lnTo>
                  <a:lnTo>
                    <a:pt x="1831086" y="1807591"/>
                  </a:lnTo>
                  <a:lnTo>
                    <a:pt x="1859407" y="1802511"/>
                  </a:lnTo>
                  <a:lnTo>
                    <a:pt x="1908175" y="1764538"/>
                  </a:lnTo>
                  <a:lnTo>
                    <a:pt x="2233295" y="1026160"/>
                  </a:lnTo>
                  <a:lnTo>
                    <a:pt x="2248281" y="953770"/>
                  </a:lnTo>
                  <a:close/>
                </a:path>
                <a:path w="4639309" h="5157470">
                  <a:moveTo>
                    <a:pt x="4638802" y="2863596"/>
                  </a:moveTo>
                  <a:lnTo>
                    <a:pt x="4636262" y="2813050"/>
                  </a:lnTo>
                  <a:lnTo>
                    <a:pt x="4628769" y="2763266"/>
                  </a:lnTo>
                  <a:lnTo>
                    <a:pt x="4616196" y="2715133"/>
                  </a:lnTo>
                  <a:lnTo>
                    <a:pt x="4598670" y="2669286"/>
                  </a:lnTo>
                  <a:lnTo>
                    <a:pt x="4271137" y="1916938"/>
                  </a:lnTo>
                  <a:lnTo>
                    <a:pt x="3771519" y="769366"/>
                  </a:lnTo>
                  <a:lnTo>
                    <a:pt x="3747135" y="719455"/>
                  </a:lnTo>
                  <a:lnTo>
                    <a:pt x="3717544" y="675894"/>
                  </a:lnTo>
                  <a:lnTo>
                    <a:pt x="3683508" y="639191"/>
                  </a:lnTo>
                  <a:lnTo>
                    <a:pt x="3645662" y="609727"/>
                  </a:lnTo>
                  <a:lnTo>
                    <a:pt x="3605022" y="588137"/>
                  </a:lnTo>
                  <a:lnTo>
                    <a:pt x="3562350" y="574802"/>
                  </a:lnTo>
                  <a:lnTo>
                    <a:pt x="3518408" y="570230"/>
                  </a:lnTo>
                  <a:lnTo>
                    <a:pt x="2192655" y="570230"/>
                  </a:lnTo>
                  <a:lnTo>
                    <a:pt x="2324100" y="872236"/>
                  </a:lnTo>
                  <a:lnTo>
                    <a:pt x="2336800" y="911733"/>
                  </a:lnTo>
                  <a:lnTo>
                    <a:pt x="2340991" y="953770"/>
                  </a:lnTo>
                  <a:lnTo>
                    <a:pt x="2336800" y="995934"/>
                  </a:lnTo>
                  <a:lnTo>
                    <a:pt x="2324100" y="1035558"/>
                  </a:lnTo>
                  <a:lnTo>
                    <a:pt x="1976628" y="1833245"/>
                  </a:lnTo>
                  <a:lnTo>
                    <a:pt x="1957324" y="1868170"/>
                  </a:lnTo>
                  <a:lnTo>
                    <a:pt x="1902333" y="1911223"/>
                  </a:lnTo>
                  <a:lnTo>
                    <a:pt x="1870329" y="1916938"/>
                  </a:lnTo>
                  <a:lnTo>
                    <a:pt x="1177163" y="1916938"/>
                  </a:lnTo>
                  <a:lnTo>
                    <a:pt x="1125220" y="1900301"/>
                  </a:lnTo>
                  <a:lnTo>
                    <a:pt x="1168781" y="1799717"/>
                  </a:lnTo>
                  <a:lnTo>
                    <a:pt x="1164082" y="1797050"/>
                  </a:lnTo>
                  <a:lnTo>
                    <a:pt x="1131951" y="1759204"/>
                  </a:lnTo>
                  <a:lnTo>
                    <a:pt x="817118" y="1035558"/>
                  </a:lnTo>
                  <a:lnTo>
                    <a:pt x="802132" y="963168"/>
                  </a:lnTo>
                  <a:lnTo>
                    <a:pt x="805942" y="925830"/>
                  </a:lnTo>
                  <a:lnTo>
                    <a:pt x="1123823" y="183388"/>
                  </a:lnTo>
                  <a:lnTo>
                    <a:pt x="1164082" y="129159"/>
                  </a:lnTo>
                  <a:lnTo>
                    <a:pt x="1219454" y="109347"/>
                  </a:lnTo>
                  <a:lnTo>
                    <a:pt x="1834007" y="109347"/>
                  </a:lnTo>
                  <a:lnTo>
                    <a:pt x="1888617" y="129159"/>
                  </a:lnTo>
                  <a:lnTo>
                    <a:pt x="1928241" y="183388"/>
                  </a:lnTo>
                  <a:lnTo>
                    <a:pt x="2092198" y="559943"/>
                  </a:lnTo>
                  <a:lnTo>
                    <a:pt x="2187067" y="559943"/>
                  </a:lnTo>
                  <a:lnTo>
                    <a:pt x="1990979" y="109347"/>
                  </a:lnTo>
                  <a:lnTo>
                    <a:pt x="1960372" y="48641"/>
                  </a:lnTo>
                  <a:lnTo>
                    <a:pt x="1905254" y="5842"/>
                  </a:lnTo>
                  <a:lnTo>
                    <a:pt x="1873250" y="0"/>
                  </a:lnTo>
                  <a:lnTo>
                    <a:pt x="1180084" y="0"/>
                  </a:lnTo>
                  <a:lnTo>
                    <a:pt x="1092200" y="48641"/>
                  </a:lnTo>
                  <a:lnTo>
                    <a:pt x="1072261" y="83566"/>
                  </a:lnTo>
                  <a:lnTo>
                    <a:pt x="726313" y="881634"/>
                  </a:lnTo>
                  <a:lnTo>
                    <a:pt x="713613" y="921004"/>
                  </a:lnTo>
                  <a:lnTo>
                    <a:pt x="709422" y="963168"/>
                  </a:lnTo>
                  <a:lnTo>
                    <a:pt x="713613" y="1005205"/>
                  </a:lnTo>
                  <a:lnTo>
                    <a:pt x="726313" y="1044702"/>
                  </a:lnTo>
                  <a:lnTo>
                    <a:pt x="1072261" y="1842643"/>
                  </a:lnTo>
                  <a:lnTo>
                    <a:pt x="1092200" y="1877568"/>
                  </a:lnTo>
                  <a:lnTo>
                    <a:pt x="1118616" y="1904365"/>
                  </a:lnTo>
                  <a:lnTo>
                    <a:pt x="787019" y="2669286"/>
                  </a:lnTo>
                  <a:lnTo>
                    <a:pt x="769493" y="2715133"/>
                  </a:lnTo>
                  <a:lnTo>
                    <a:pt x="756920" y="2763266"/>
                  </a:lnTo>
                  <a:lnTo>
                    <a:pt x="749427" y="2813050"/>
                  </a:lnTo>
                  <a:lnTo>
                    <a:pt x="746887" y="2863596"/>
                  </a:lnTo>
                  <a:lnTo>
                    <a:pt x="749427" y="2914142"/>
                  </a:lnTo>
                  <a:lnTo>
                    <a:pt x="756920" y="2963799"/>
                  </a:lnTo>
                  <a:lnTo>
                    <a:pt x="769493" y="3012059"/>
                  </a:lnTo>
                  <a:lnTo>
                    <a:pt x="787019" y="3057906"/>
                  </a:lnTo>
                  <a:lnTo>
                    <a:pt x="1610741" y="4957953"/>
                  </a:lnTo>
                  <a:lnTo>
                    <a:pt x="1636141" y="5007762"/>
                  </a:lnTo>
                  <a:lnTo>
                    <a:pt x="1666240" y="5051285"/>
                  </a:lnTo>
                  <a:lnTo>
                    <a:pt x="1700530" y="5088001"/>
                  </a:lnTo>
                  <a:lnTo>
                    <a:pt x="1738249" y="5117427"/>
                  </a:lnTo>
                  <a:lnTo>
                    <a:pt x="1779143" y="5139055"/>
                  </a:lnTo>
                  <a:lnTo>
                    <a:pt x="1822323" y="5152402"/>
                  </a:lnTo>
                  <a:lnTo>
                    <a:pt x="1867408" y="5156962"/>
                  </a:lnTo>
                  <a:lnTo>
                    <a:pt x="3518408" y="5156962"/>
                  </a:lnTo>
                  <a:lnTo>
                    <a:pt x="3562350" y="5152402"/>
                  </a:lnTo>
                  <a:lnTo>
                    <a:pt x="3605022" y="5139055"/>
                  </a:lnTo>
                  <a:lnTo>
                    <a:pt x="3645662" y="5117427"/>
                  </a:lnTo>
                  <a:lnTo>
                    <a:pt x="3683508" y="5088001"/>
                  </a:lnTo>
                  <a:lnTo>
                    <a:pt x="3717544" y="5051285"/>
                  </a:lnTo>
                  <a:lnTo>
                    <a:pt x="3747135" y="5007762"/>
                  </a:lnTo>
                  <a:lnTo>
                    <a:pt x="3771519" y="4957953"/>
                  </a:lnTo>
                  <a:lnTo>
                    <a:pt x="4598670" y="3057906"/>
                  </a:lnTo>
                  <a:lnTo>
                    <a:pt x="4616196" y="3012059"/>
                  </a:lnTo>
                  <a:lnTo>
                    <a:pt x="4628769" y="2963799"/>
                  </a:lnTo>
                  <a:lnTo>
                    <a:pt x="4636262" y="2914142"/>
                  </a:lnTo>
                  <a:lnTo>
                    <a:pt x="4638802" y="2863596"/>
                  </a:lnTo>
                  <a:close/>
                </a:path>
              </a:pathLst>
            </a:custGeom>
            <a:solidFill>
              <a:srgbClr val="7D7D7D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6023"/>
              <a:ext cx="3203448" cy="34259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1032" y="0"/>
              <a:ext cx="2249424" cy="106375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993775">
              <a:lnSpc>
                <a:spcPct val="100000"/>
              </a:lnSpc>
              <a:spcBef>
                <a:spcPts val="110"/>
              </a:spcBef>
            </a:pPr>
            <a:r>
              <a:rPr dirty="0" sz="4000" spc="-105">
                <a:solidFill>
                  <a:srgbClr val="1F477B"/>
                </a:solidFill>
                <a:latin typeface="Times New Roman"/>
                <a:cs typeface="Times New Roman"/>
              </a:rPr>
              <a:t>SMART</a:t>
            </a:r>
            <a:r>
              <a:rPr dirty="0" sz="4000" spc="-185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4000" spc="65">
                <a:solidFill>
                  <a:srgbClr val="1F477B"/>
                </a:solidFill>
                <a:latin typeface="Times New Roman"/>
                <a:cs typeface="Times New Roman"/>
              </a:rPr>
              <a:t>INDIA</a:t>
            </a:r>
            <a:r>
              <a:rPr dirty="0" sz="4000" spc="11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F477B"/>
                </a:solidFill>
                <a:latin typeface="Times New Roman"/>
                <a:cs typeface="Times New Roman"/>
              </a:rPr>
              <a:t>HACKATHON</a:t>
            </a:r>
            <a:r>
              <a:rPr dirty="0" sz="4000" spc="-35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4000" spc="-20">
                <a:solidFill>
                  <a:srgbClr val="1F477B"/>
                </a:solidFill>
                <a:latin typeface="Times New Roman"/>
                <a:cs typeface="Times New Roman"/>
              </a:rPr>
              <a:t>2026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892" y="1679193"/>
            <a:ext cx="6598284" cy="4366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Problem</a:t>
            </a:r>
            <a:r>
              <a:rPr dirty="0" sz="2200" spc="-9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Statement</a:t>
            </a:r>
            <a:r>
              <a:rPr dirty="0" sz="2200" spc="-10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ID-</a:t>
            </a:r>
            <a:r>
              <a:rPr dirty="0" sz="2200" spc="-7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SIH26145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Problem</a:t>
            </a:r>
            <a:r>
              <a:rPr dirty="0" sz="2200" spc="254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Statement</a:t>
            </a:r>
            <a:r>
              <a:rPr dirty="0" sz="2200" spc="254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Title-</a:t>
            </a:r>
            <a:r>
              <a:rPr dirty="0" sz="2200" spc="28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Al-Based</a:t>
            </a:r>
            <a:r>
              <a:rPr dirty="0" sz="2200" spc="21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Detection</a:t>
            </a:r>
            <a:r>
              <a:rPr dirty="0" sz="2200" spc="250" b="1">
                <a:latin typeface="Palatino Linotype"/>
                <a:cs typeface="Palatino Linotype"/>
              </a:rPr>
              <a:t> </a:t>
            </a:r>
            <a:r>
              <a:rPr dirty="0" sz="2200" spc="-25" b="1">
                <a:latin typeface="Palatino Linotype"/>
                <a:cs typeface="Palatino Linotype"/>
              </a:rPr>
              <a:t>of</a:t>
            </a:r>
            <a:endParaRPr sz="2200">
              <a:latin typeface="Palatino Linotype"/>
              <a:cs typeface="Palatino Linotype"/>
            </a:endParaRPr>
          </a:p>
          <a:p>
            <a:pPr marL="299085">
              <a:lnSpc>
                <a:spcPct val="100000"/>
              </a:lnSpc>
              <a:spcBef>
                <a:spcPts val="2645"/>
              </a:spcBef>
            </a:pPr>
            <a:r>
              <a:rPr dirty="0" sz="2200" b="1">
                <a:latin typeface="Palatino Linotype"/>
                <a:cs typeface="Palatino Linotype"/>
              </a:rPr>
              <a:t>Cyber</a:t>
            </a:r>
            <a:r>
              <a:rPr dirty="0" sz="2200" spc="-1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Threats</a:t>
            </a:r>
            <a:r>
              <a:rPr dirty="0" sz="2200" spc="-8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in</a:t>
            </a:r>
            <a:r>
              <a:rPr dirty="0" sz="2200" spc="-2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Unidirectional</a:t>
            </a:r>
            <a:r>
              <a:rPr dirty="0" sz="2200" spc="-9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IP</a:t>
            </a:r>
            <a:r>
              <a:rPr dirty="0" sz="2200" spc="-4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Traffic</a:t>
            </a:r>
            <a:endParaRPr sz="2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Theme-</a:t>
            </a:r>
            <a:r>
              <a:rPr dirty="0" sz="2200" spc="-4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Blockchain</a:t>
            </a:r>
            <a:r>
              <a:rPr dirty="0" sz="2200" spc="-10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&amp;</a:t>
            </a:r>
            <a:r>
              <a:rPr dirty="0" sz="2200" spc="-20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Cybersecurity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25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PS</a:t>
            </a:r>
            <a:r>
              <a:rPr dirty="0" sz="2200" spc="-5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Category-</a:t>
            </a:r>
            <a:r>
              <a:rPr dirty="0" sz="2200" spc="-85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Software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262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Team</a:t>
            </a:r>
            <a:r>
              <a:rPr dirty="0" sz="2200" spc="-85" b="1">
                <a:latin typeface="Palatino Linotype"/>
                <a:cs typeface="Palatino Linotype"/>
              </a:rPr>
              <a:t> </a:t>
            </a:r>
            <a:r>
              <a:rPr dirty="0" sz="2200" spc="-25" b="1">
                <a:latin typeface="Palatino Linotype"/>
                <a:cs typeface="Palatino Linotype"/>
              </a:rPr>
              <a:t>ID-</a:t>
            </a:r>
            <a:endParaRPr sz="2200">
              <a:latin typeface="Palatino Linotype"/>
              <a:cs typeface="Palatino Linotype"/>
            </a:endParaRPr>
          </a:p>
          <a:p>
            <a:pPr marL="299085" indent="-286385">
              <a:lnSpc>
                <a:spcPct val="100000"/>
              </a:lnSpc>
              <a:spcBef>
                <a:spcPts val="25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Palatino Linotype"/>
                <a:cs typeface="Palatino Linotype"/>
              </a:rPr>
              <a:t>Team</a:t>
            </a:r>
            <a:r>
              <a:rPr dirty="0" sz="2200" spc="-80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Name-</a:t>
            </a:r>
            <a:r>
              <a:rPr dirty="0" sz="2200" spc="-105" b="1">
                <a:latin typeface="Palatino Linotype"/>
                <a:cs typeface="Palatino Linotype"/>
              </a:rPr>
              <a:t> </a:t>
            </a:r>
            <a:r>
              <a:rPr dirty="0" sz="2200" b="1">
                <a:latin typeface="Palatino Linotype"/>
                <a:cs typeface="Palatino Linotype"/>
              </a:rPr>
              <a:t>Caffeinated</a:t>
            </a:r>
            <a:r>
              <a:rPr dirty="0" sz="2200" spc="-105" b="1">
                <a:latin typeface="Palatino Linotype"/>
                <a:cs typeface="Palatino Linotype"/>
              </a:rPr>
              <a:t> </a:t>
            </a:r>
            <a:r>
              <a:rPr dirty="0" sz="2200" spc="-10" b="1">
                <a:latin typeface="Palatino Linotype"/>
                <a:cs typeface="Palatino Linotype"/>
              </a:rPr>
              <a:t>Coders</a:t>
            </a:r>
            <a:endParaRPr sz="2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55"/>
              <a:t> </a:t>
            </a:r>
            <a:r>
              <a:rPr dirty="0" spc="-10"/>
              <a:t>Solution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34974"/>
            <a:ext cx="9820910" cy="661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2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passive</a:t>
            </a:r>
            <a:r>
              <a:rPr dirty="0" sz="12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detection</a:t>
            </a:r>
            <a:r>
              <a:rPr dirty="0" sz="12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pipeline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for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one-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way</a:t>
            </a:r>
            <a:r>
              <a:rPr dirty="0" sz="12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links.</a:t>
            </a:r>
            <a:r>
              <a:rPr dirty="0" sz="1250" spc="-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It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never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probes,</a:t>
            </a:r>
            <a:r>
              <a:rPr dirty="0" sz="12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never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completes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handshake,</a:t>
            </a:r>
            <a:r>
              <a:rPr dirty="0" sz="12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has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send()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path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back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into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production</a:t>
            </a:r>
            <a:r>
              <a:rPr dirty="0" sz="12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network.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55" b="1">
                <a:solidFill>
                  <a:srgbClr val="798599"/>
                </a:solidFill>
                <a:latin typeface="Calibri"/>
                <a:cs typeface="Calibri"/>
              </a:rPr>
              <a:t>DE</a:t>
            </a:r>
            <a:r>
              <a:rPr dirty="0" sz="950" spc="-8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T</a:t>
            </a:r>
            <a:r>
              <a:rPr dirty="0" sz="950" spc="-8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798599"/>
                </a:solidFill>
                <a:latin typeface="Calibri"/>
                <a:cs typeface="Calibri"/>
              </a:rPr>
              <a:t>CTION</a:t>
            </a:r>
            <a:r>
              <a:rPr dirty="0" sz="950" spc="14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798599"/>
                </a:solidFill>
                <a:latin typeface="Calibri"/>
                <a:cs typeface="Calibri"/>
              </a:rPr>
              <a:t>PI</a:t>
            </a:r>
            <a:r>
              <a:rPr dirty="0" sz="950" spc="-8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798599"/>
                </a:solidFill>
                <a:latin typeface="Calibri"/>
                <a:cs typeface="Calibri"/>
              </a:rPr>
              <a:t>PEL</a:t>
            </a:r>
            <a:r>
              <a:rPr dirty="0" sz="950" spc="-9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40" b="1">
                <a:solidFill>
                  <a:srgbClr val="798599"/>
                </a:solidFill>
                <a:latin typeface="Calibri"/>
                <a:cs typeface="Calibri"/>
              </a:rPr>
              <a:t>INE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6823" y="1712976"/>
            <a:ext cx="2161540" cy="579120"/>
            <a:chOff x="496823" y="1712976"/>
            <a:chExt cx="2161540" cy="579120"/>
          </a:xfrm>
        </p:grpSpPr>
        <p:sp>
          <p:nvSpPr>
            <p:cNvPr id="6" name="object 6"/>
            <p:cNvSpPr/>
            <p:nvPr/>
          </p:nvSpPr>
          <p:spPr>
            <a:xfrm>
              <a:off x="502919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210312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93" y="539013"/>
                  </a:lnTo>
                  <a:lnTo>
                    <a:pt x="13392" y="553545"/>
                  </a:lnTo>
                  <a:lnTo>
                    <a:pt x="27924" y="563338"/>
                  </a:lnTo>
                  <a:lnTo>
                    <a:pt x="45720" y="566927"/>
                  </a:lnTo>
                  <a:lnTo>
                    <a:pt x="2103120" y="566927"/>
                  </a:lnTo>
                  <a:lnTo>
                    <a:pt x="2120925" y="563338"/>
                  </a:lnTo>
                  <a:lnTo>
                    <a:pt x="2135457" y="553545"/>
                  </a:lnTo>
                  <a:lnTo>
                    <a:pt x="2145250" y="539013"/>
                  </a:lnTo>
                  <a:lnTo>
                    <a:pt x="2148840" y="521207"/>
                  </a:lnTo>
                  <a:lnTo>
                    <a:pt x="2148840" y="45719"/>
                  </a:lnTo>
                  <a:lnTo>
                    <a:pt x="2145250" y="27914"/>
                  </a:lnTo>
                  <a:lnTo>
                    <a:pt x="2135457" y="13382"/>
                  </a:lnTo>
                  <a:lnTo>
                    <a:pt x="2120925" y="3589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2919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20" y="0"/>
                  </a:lnTo>
                  <a:lnTo>
                    <a:pt x="2103120" y="0"/>
                  </a:lnTo>
                  <a:lnTo>
                    <a:pt x="2120925" y="3589"/>
                  </a:lnTo>
                  <a:lnTo>
                    <a:pt x="2135457" y="13382"/>
                  </a:lnTo>
                  <a:lnTo>
                    <a:pt x="2145250" y="27914"/>
                  </a:lnTo>
                  <a:lnTo>
                    <a:pt x="2148840" y="45719"/>
                  </a:lnTo>
                  <a:lnTo>
                    <a:pt x="2148840" y="521207"/>
                  </a:lnTo>
                  <a:lnTo>
                    <a:pt x="2145250" y="539013"/>
                  </a:lnTo>
                  <a:lnTo>
                    <a:pt x="2135457" y="553545"/>
                  </a:lnTo>
                  <a:lnTo>
                    <a:pt x="2120925" y="563338"/>
                  </a:lnTo>
                  <a:lnTo>
                    <a:pt x="2103120" y="566927"/>
                  </a:lnTo>
                  <a:lnTo>
                    <a:pt x="45720" y="566927"/>
                  </a:lnTo>
                  <a:lnTo>
                    <a:pt x="27924" y="563338"/>
                  </a:lnTo>
                  <a:lnTo>
                    <a:pt x="13392" y="553545"/>
                  </a:lnTo>
                  <a:lnTo>
                    <a:pt x="3593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2919" y="1719072"/>
            <a:ext cx="2148840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Mirror</a:t>
            </a:r>
            <a:r>
              <a:rPr dirty="0" sz="11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1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Calibri"/>
                <a:cs typeface="Calibri"/>
              </a:rPr>
              <a:t>TAP</a:t>
            </a:r>
            <a:endParaRPr sz="1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50" spc="-25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dirty="0" sz="8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2250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6560" y="1712976"/>
            <a:ext cx="2024380" cy="579120"/>
            <a:chOff x="2956560" y="1712976"/>
            <a:chExt cx="2024380" cy="579120"/>
          </a:xfrm>
        </p:grpSpPr>
        <p:sp>
          <p:nvSpPr>
            <p:cNvPr id="11" name="object 11"/>
            <p:cNvSpPr/>
            <p:nvPr/>
          </p:nvSpPr>
          <p:spPr>
            <a:xfrm>
              <a:off x="2962656" y="1719072"/>
              <a:ext cx="2011680" cy="567055"/>
            </a:xfrm>
            <a:custGeom>
              <a:avLst/>
              <a:gdLst/>
              <a:ahLst/>
              <a:cxnLst/>
              <a:rect l="l" t="t" r="r" b="b"/>
              <a:pathLst>
                <a:path w="2011679" h="567055">
                  <a:moveTo>
                    <a:pt x="1965959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19" y="566927"/>
                  </a:lnTo>
                  <a:lnTo>
                    <a:pt x="1965959" y="566927"/>
                  </a:lnTo>
                  <a:lnTo>
                    <a:pt x="1983765" y="563338"/>
                  </a:lnTo>
                  <a:lnTo>
                    <a:pt x="1998297" y="553545"/>
                  </a:lnTo>
                  <a:lnTo>
                    <a:pt x="2008090" y="539013"/>
                  </a:lnTo>
                  <a:lnTo>
                    <a:pt x="2011680" y="521207"/>
                  </a:lnTo>
                  <a:lnTo>
                    <a:pt x="2011680" y="45719"/>
                  </a:lnTo>
                  <a:lnTo>
                    <a:pt x="2008090" y="27914"/>
                  </a:lnTo>
                  <a:lnTo>
                    <a:pt x="1998297" y="13382"/>
                  </a:lnTo>
                  <a:lnTo>
                    <a:pt x="1983765" y="3589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62656" y="1719072"/>
              <a:ext cx="2011680" cy="567055"/>
            </a:xfrm>
            <a:custGeom>
              <a:avLst/>
              <a:gdLst/>
              <a:ahLst/>
              <a:cxnLst/>
              <a:rect l="l" t="t" r="r" b="b"/>
              <a:pathLst>
                <a:path w="2011679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1965959" y="0"/>
                  </a:lnTo>
                  <a:lnTo>
                    <a:pt x="1983765" y="3589"/>
                  </a:lnTo>
                  <a:lnTo>
                    <a:pt x="1998297" y="13382"/>
                  </a:lnTo>
                  <a:lnTo>
                    <a:pt x="2008090" y="27914"/>
                  </a:lnTo>
                  <a:lnTo>
                    <a:pt x="2011680" y="45719"/>
                  </a:lnTo>
                  <a:lnTo>
                    <a:pt x="2011680" y="521207"/>
                  </a:lnTo>
                  <a:lnTo>
                    <a:pt x="2008090" y="539013"/>
                  </a:lnTo>
                  <a:lnTo>
                    <a:pt x="1998297" y="553545"/>
                  </a:lnTo>
                  <a:lnTo>
                    <a:pt x="1983765" y="563338"/>
                  </a:lnTo>
                  <a:lnTo>
                    <a:pt x="1965959" y="566927"/>
                  </a:lnTo>
                  <a:lnTo>
                    <a:pt x="45719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962655" y="1719072"/>
            <a:ext cx="2011680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 Diode</a:t>
            </a:r>
            <a:endParaRPr sz="115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25"/>
              </a:spcBef>
            </a:pP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8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return </a:t>
            </a:r>
            <a:r>
              <a:rPr dirty="0" sz="850" spc="-20">
                <a:solidFill>
                  <a:srgbClr val="FFFFFF"/>
                </a:solidFill>
                <a:latin typeface="Calibri"/>
                <a:cs typeface="Calibri"/>
              </a:rPr>
              <a:t>path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5334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79135" y="1712976"/>
            <a:ext cx="2161540" cy="579120"/>
            <a:chOff x="5279135" y="1712976"/>
            <a:chExt cx="2161540" cy="579120"/>
          </a:xfrm>
        </p:grpSpPr>
        <p:sp>
          <p:nvSpPr>
            <p:cNvPr id="16" name="object 16"/>
            <p:cNvSpPr/>
            <p:nvPr/>
          </p:nvSpPr>
          <p:spPr>
            <a:xfrm>
              <a:off x="5285231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2103119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19" y="566927"/>
                  </a:lnTo>
                  <a:lnTo>
                    <a:pt x="2103119" y="566927"/>
                  </a:lnTo>
                  <a:lnTo>
                    <a:pt x="2120925" y="563338"/>
                  </a:lnTo>
                  <a:lnTo>
                    <a:pt x="2135457" y="553545"/>
                  </a:lnTo>
                  <a:lnTo>
                    <a:pt x="2145250" y="539013"/>
                  </a:lnTo>
                  <a:lnTo>
                    <a:pt x="2148840" y="521207"/>
                  </a:lnTo>
                  <a:lnTo>
                    <a:pt x="2148840" y="45719"/>
                  </a:lnTo>
                  <a:lnTo>
                    <a:pt x="2145250" y="27914"/>
                  </a:lnTo>
                  <a:lnTo>
                    <a:pt x="2135457" y="13382"/>
                  </a:lnTo>
                  <a:lnTo>
                    <a:pt x="2120925" y="3589"/>
                  </a:lnTo>
                  <a:lnTo>
                    <a:pt x="2103119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85231" y="1719072"/>
              <a:ext cx="2148840" cy="567055"/>
            </a:xfrm>
            <a:custGeom>
              <a:avLst/>
              <a:gdLst/>
              <a:ahLst/>
              <a:cxnLst/>
              <a:rect l="l" t="t" r="r" b="b"/>
              <a:pathLst>
                <a:path w="2148840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2103119" y="0"/>
                  </a:lnTo>
                  <a:lnTo>
                    <a:pt x="2120925" y="3589"/>
                  </a:lnTo>
                  <a:lnTo>
                    <a:pt x="2135457" y="13382"/>
                  </a:lnTo>
                  <a:lnTo>
                    <a:pt x="2145250" y="27914"/>
                  </a:lnTo>
                  <a:lnTo>
                    <a:pt x="2148840" y="45719"/>
                  </a:lnTo>
                  <a:lnTo>
                    <a:pt x="2148840" y="521207"/>
                  </a:lnTo>
                  <a:lnTo>
                    <a:pt x="2145250" y="539013"/>
                  </a:lnTo>
                  <a:lnTo>
                    <a:pt x="2135457" y="553545"/>
                  </a:lnTo>
                  <a:lnTo>
                    <a:pt x="2120925" y="563338"/>
                  </a:lnTo>
                  <a:lnTo>
                    <a:pt x="2103119" y="566927"/>
                  </a:lnTo>
                  <a:lnTo>
                    <a:pt x="45719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0D7B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85232" y="1719072"/>
            <a:ext cx="2148840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dirty="0" sz="11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115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25"/>
              </a:spcBef>
            </a:pP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entropy</a:t>
            </a:r>
            <a:r>
              <a:rPr dirty="0" sz="8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periodicity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5705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38871" y="1712976"/>
            <a:ext cx="1932939" cy="579120"/>
            <a:chOff x="7738871" y="1712976"/>
            <a:chExt cx="1932939" cy="579120"/>
          </a:xfrm>
        </p:grpSpPr>
        <p:sp>
          <p:nvSpPr>
            <p:cNvPr id="21" name="object 21"/>
            <p:cNvSpPr/>
            <p:nvPr/>
          </p:nvSpPr>
          <p:spPr>
            <a:xfrm>
              <a:off x="7744967" y="1719072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187452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20" y="566927"/>
                  </a:lnTo>
                  <a:lnTo>
                    <a:pt x="1874520" y="566927"/>
                  </a:lnTo>
                  <a:lnTo>
                    <a:pt x="1892325" y="563338"/>
                  </a:lnTo>
                  <a:lnTo>
                    <a:pt x="1906857" y="553545"/>
                  </a:lnTo>
                  <a:lnTo>
                    <a:pt x="1916650" y="539013"/>
                  </a:lnTo>
                  <a:lnTo>
                    <a:pt x="1920239" y="521207"/>
                  </a:lnTo>
                  <a:lnTo>
                    <a:pt x="1920239" y="45719"/>
                  </a:lnTo>
                  <a:lnTo>
                    <a:pt x="1916650" y="27914"/>
                  </a:lnTo>
                  <a:lnTo>
                    <a:pt x="1906857" y="13382"/>
                  </a:lnTo>
                  <a:lnTo>
                    <a:pt x="1892325" y="3589"/>
                  </a:lnTo>
                  <a:lnTo>
                    <a:pt x="187452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744967" y="1719072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874520" y="0"/>
                  </a:lnTo>
                  <a:lnTo>
                    <a:pt x="1892325" y="3589"/>
                  </a:lnTo>
                  <a:lnTo>
                    <a:pt x="1906857" y="13382"/>
                  </a:lnTo>
                  <a:lnTo>
                    <a:pt x="1916650" y="27914"/>
                  </a:lnTo>
                  <a:lnTo>
                    <a:pt x="1920239" y="45719"/>
                  </a:lnTo>
                  <a:lnTo>
                    <a:pt x="1920239" y="521207"/>
                  </a:lnTo>
                  <a:lnTo>
                    <a:pt x="1916650" y="539013"/>
                  </a:lnTo>
                  <a:lnTo>
                    <a:pt x="1906857" y="553545"/>
                  </a:lnTo>
                  <a:lnTo>
                    <a:pt x="1892325" y="563338"/>
                  </a:lnTo>
                  <a:lnTo>
                    <a:pt x="1874520" y="566927"/>
                  </a:lnTo>
                  <a:lnTo>
                    <a:pt x="45720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0D7B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44968" y="1719072"/>
            <a:ext cx="1920239" cy="56705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563245">
              <a:lnSpc>
                <a:spcPct val="100000"/>
              </a:lnSpc>
              <a:spcBef>
                <a:spcPts val="965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Six</a:t>
            </a:r>
            <a:r>
              <a:rPr dirty="0" sz="11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Detectors</a:t>
            </a:r>
            <a:endParaRPr sz="1150">
              <a:latin typeface="Calibri"/>
              <a:cs typeface="Calibri"/>
            </a:endParaRPr>
          </a:p>
          <a:p>
            <a:pPr marL="581025">
              <a:lnSpc>
                <a:spcPct val="100000"/>
              </a:lnSpc>
              <a:spcBef>
                <a:spcPts val="25"/>
              </a:spcBef>
            </a:pP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r>
              <a:rPr dirty="0" sz="8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77476" y="1908429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798599"/>
                </a:solidFill>
                <a:latin typeface="MS Gothic"/>
                <a:cs typeface="MS Gothic"/>
              </a:rPr>
              <a:t>▶</a:t>
            </a:r>
            <a:endParaRPr sz="1000">
              <a:latin typeface="MS Gothic"/>
              <a:cs typeface="MS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970007" y="1712976"/>
            <a:ext cx="1722120" cy="579120"/>
            <a:chOff x="9970007" y="1712976"/>
            <a:chExt cx="1722120" cy="579120"/>
          </a:xfrm>
        </p:grpSpPr>
        <p:sp>
          <p:nvSpPr>
            <p:cNvPr id="26" name="object 26"/>
            <p:cNvSpPr/>
            <p:nvPr/>
          </p:nvSpPr>
          <p:spPr>
            <a:xfrm>
              <a:off x="9976103" y="1719072"/>
              <a:ext cx="1710055" cy="567055"/>
            </a:xfrm>
            <a:custGeom>
              <a:avLst/>
              <a:gdLst/>
              <a:ahLst/>
              <a:cxnLst/>
              <a:rect l="l" t="t" r="r" b="b"/>
              <a:pathLst>
                <a:path w="1710054" h="567055">
                  <a:moveTo>
                    <a:pt x="1664207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521207"/>
                  </a:lnTo>
                  <a:lnTo>
                    <a:pt x="3589" y="539013"/>
                  </a:lnTo>
                  <a:lnTo>
                    <a:pt x="13382" y="553545"/>
                  </a:lnTo>
                  <a:lnTo>
                    <a:pt x="27914" y="563338"/>
                  </a:lnTo>
                  <a:lnTo>
                    <a:pt x="45720" y="566927"/>
                  </a:lnTo>
                  <a:lnTo>
                    <a:pt x="1664207" y="566927"/>
                  </a:lnTo>
                  <a:lnTo>
                    <a:pt x="1682013" y="563338"/>
                  </a:lnTo>
                  <a:lnTo>
                    <a:pt x="1696545" y="553545"/>
                  </a:lnTo>
                  <a:lnTo>
                    <a:pt x="1706338" y="539013"/>
                  </a:lnTo>
                  <a:lnTo>
                    <a:pt x="1709927" y="521207"/>
                  </a:lnTo>
                  <a:lnTo>
                    <a:pt x="1709927" y="45719"/>
                  </a:lnTo>
                  <a:lnTo>
                    <a:pt x="1706338" y="27914"/>
                  </a:lnTo>
                  <a:lnTo>
                    <a:pt x="1696545" y="13382"/>
                  </a:lnTo>
                  <a:lnTo>
                    <a:pt x="1682013" y="3589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B36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976103" y="1719072"/>
              <a:ext cx="1710055" cy="567055"/>
            </a:xfrm>
            <a:custGeom>
              <a:avLst/>
              <a:gdLst/>
              <a:ahLst/>
              <a:cxnLst/>
              <a:rect l="l" t="t" r="r" b="b"/>
              <a:pathLst>
                <a:path w="1710054" h="567055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64207" y="0"/>
                  </a:lnTo>
                  <a:lnTo>
                    <a:pt x="1682013" y="3589"/>
                  </a:lnTo>
                  <a:lnTo>
                    <a:pt x="1696545" y="13382"/>
                  </a:lnTo>
                  <a:lnTo>
                    <a:pt x="1706338" y="27914"/>
                  </a:lnTo>
                  <a:lnTo>
                    <a:pt x="1709927" y="45719"/>
                  </a:lnTo>
                  <a:lnTo>
                    <a:pt x="1709927" y="521207"/>
                  </a:lnTo>
                  <a:lnTo>
                    <a:pt x="1706338" y="539013"/>
                  </a:lnTo>
                  <a:lnTo>
                    <a:pt x="1696545" y="553545"/>
                  </a:lnTo>
                  <a:lnTo>
                    <a:pt x="1682013" y="563338"/>
                  </a:lnTo>
                  <a:lnTo>
                    <a:pt x="1664207" y="566927"/>
                  </a:lnTo>
                  <a:lnTo>
                    <a:pt x="45720" y="566927"/>
                  </a:lnTo>
                  <a:lnTo>
                    <a:pt x="27914" y="563338"/>
                  </a:lnTo>
                  <a:lnTo>
                    <a:pt x="13382" y="553545"/>
                  </a:lnTo>
                  <a:lnTo>
                    <a:pt x="3589" y="539013"/>
                  </a:lnTo>
                  <a:lnTo>
                    <a:pt x="0" y="521207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B36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328909" y="1829180"/>
            <a:ext cx="1010285" cy="33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Alert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endParaRPr sz="1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17-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8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4444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89" h="365760">
                <a:moveTo>
                  <a:pt x="0" y="36575"/>
                </a:moveTo>
                <a:lnTo>
                  <a:pt x="2873" y="22342"/>
                </a:lnTo>
                <a:lnTo>
                  <a:pt x="10710" y="10715"/>
                </a:lnTo>
                <a:lnTo>
                  <a:pt x="22336" y="2875"/>
                </a:lnTo>
                <a:lnTo>
                  <a:pt x="36576" y="0"/>
                </a:lnTo>
                <a:lnTo>
                  <a:pt x="1737360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6" y="36575"/>
                </a:lnTo>
                <a:lnTo>
                  <a:pt x="1773936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60" y="365760"/>
                </a:lnTo>
                <a:lnTo>
                  <a:pt x="36576" y="365760"/>
                </a:lnTo>
                <a:lnTo>
                  <a:pt x="22336" y="362884"/>
                </a:lnTo>
                <a:lnTo>
                  <a:pt x="10710" y="355044"/>
                </a:lnTo>
                <a:lnTo>
                  <a:pt x="2873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4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61389" y="2558922"/>
            <a:ext cx="45656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(a)</a:t>
            </a:r>
            <a:r>
              <a:rPr dirty="0" sz="950" spc="-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1F2937"/>
                </a:solidFill>
                <a:latin typeface="Calibri"/>
                <a:cs typeface="Calibri"/>
              </a:rPr>
              <a:t>DDoS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51532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89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59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5" y="36575"/>
                </a:lnTo>
                <a:lnTo>
                  <a:pt x="1773935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59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4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884170" y="2558922"/>
            <a:ext cx="7086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(b)</a:t>
            </a:r>
            <a:r>
              <a:rPr dirty="0" sz="950" spc="-1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C2</a:t>
            </a:r>
            <a:r>
              <a:rPr dirty="0" sz="950" spc="-1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Beacon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98620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89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59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5" y="36575"/>
                </a:lnTo>
                <a:lnTo>
                  <a:pt x="1773935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59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3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731511" y="2558922"/>
            <a:ext cx="70929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(c)</a:t>
            </a:r>
            <a:r>
              <a:rPr dirty="0" sz="950" spc="-2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DGA</a:t>
            </a:r>
            <a:r>
              <a:rPr dirty="0" sz="950" spc="-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/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1F2937"/>
                </a:solidFill>
                <a:latin typeface="Calibri"/>
                <a:cs typeface="Calibri"/>
              </a:rPr>
              <a:t>DNS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45708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90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60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6" y="36575"/>
                </a:lnTo>
                <a:lnTo>
                  <a:pt x="1773936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60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4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521322" y="2558922"/>
            <a:ext cx="820419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(d) TLS</a:t>
            </a:r>
            <a:r>
              <a:rPr dirty="0" sz="950" spc="-25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Malware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892795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90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59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5" y="36575"/>
                </a:lnTo>
                <a:lnTo>
                  <a:pt x="1773935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59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3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533256" y="2558922"/>
            <a:ext cx="49466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(e)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 Recon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739883" y="2470404"/>
            <a:ext cx="1774189" cy="365760"/>
          </a:xfrm>
          <a:custGeom>
            <a:avLst/>
            <a:gdLst/>
            <a:ahLst/>
            <a:cxnLst/>
            <a:rect l="l" t="t" r="r" b="b"/>
            <a:pathLst>
              <a:path w="1774190" h="365760">
                <a:moveTo>
                  <a:pt x="0" y="36575"/>
                </a:moveTo>
                <a:lnTo>
                  <a:pt x="2875" y="22342"/>
                </a:lnTo>
                <a:lnTo>
                  <a:pt x="10715" y="10715"/>
                </a:lnTo>
                <a:lnTo>
                  <a:pt x="22342" y="2875"/>
                </a:lnTo>
                <a:lnTo>
                  <a:pt x="36575" y="0"/>
                </a:lnTo>
                <a:lnTo>
                  <a:pt x="1737360" y="0"/>
                </a:lnTo>
                <a:lnTo>
                  <a:pt x="1751593" y="2875"/>
                </a:lnTo>
                <a:lnTo>
                  <a:pt x="1763220" y="10715"/>
                </a:lnTo>
                <a:lnTo>
                  <a:pt x="1771060" y="22342"/>
                </a:lnTo>
                <a:lnTo>
                  <a:pt x="1773936" y="36575"/>
                </a:lnTo>
                <a:lnTo>
                  <a:pt x="1773936" y="329184"/>
                </a:lnTo>
                <a:lnTo>
                  <a:pt x="1771060" y="343417"/>
                </a:lnTo>
                <a:lnTo>
                  <a:pt x="1763220" y="355044"/>
                </a:lnTo>
                <a:lnTo>
                  <a:pt x="1751593" y="362884"/>
                </a:lnTo>
                <a:lnTo>
                  <a:pt x="1737360" y="365760"/>
                </a:lnTo>
                <a:lnTo>
                  <a:pt x="36575" y="365760"/>
                </a:lnTo>
                <a:lnTo>
                  <a:pt x="22342" y="362884"/>
                </a:lnTo>
                <a:lnTo>
                  <a:pt x="10715" y="355044"/>
                </a:lnTo>
                <a:lnTo>
                  <a:pt x="2875" y="343417"/>
                </a:lnTo>
                <a:lnTo>
                  <a:pt x="0" y="329184"/>
                </a:lnTo>
                <a:lnTo>
                  <a:pt x="0" y="36575"/>
                </a:lnTo>
                <a:close/>
              </a:path>
            </a:pathLst>
          </a:custGeom>
          <a:ln w="9143">
            <a:solidFill>
              <a:srgbClr val="D6DE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277347" y="2558922"/>
            <a:ext cx="70231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1F2937"/>
                </a:solidFill>
                <a:latin typeface="Calibri"/>
                <a:cs typeface="Calibri"/>
              </a:rPr>
              <a:t>(f)</a:t>
            </a:r>
            <a:r>
              <a:rPr dirty="0" sz="950" spc="-10">
                <a:solidFill>
                  <a:srgbClr val="1F2937"/>
                </a:solidFill>
                <a:latin typeface="Calibri"/>
                <a:cs typeface="Calibri"/>
              </a:rPr>
              <a:t> Exfiltration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99872" y="3124200"/>
            <a:ext cx="3538854" cy="1856739"/>
            <a:chOff x="499872" y="3124200"/>
            <a:chExt cx="3538854" cy="1856739"/>
          </a:xfrm>
        </p:grpSpPr>
        <p:sp>
          <p:nvSpPr>
            <p:cNvPr id="42" name="object 42"/>
            <p:cNvSpPr/>
            <p:nvPr/>
          </p:nvSpPr>
          <p:spPr>
            <a:xfrm>
              <a:off x="504444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3474720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792223"/>
                  </a:lnTo>
                  <a:lnTo>
                    <a:pt x="4311" y="1813601"/>
                  </a:lnTo>
                  <a:lnTo>
                    <a:pt x="16068" y="1831038"/>
                  </a:lnTo>
                  <a:lnTo>
                    <a:pt x="33507" y="1842783"/>
                  </a:lnTo>
                  <a:lnTo>
                    <a:pt x="54864" y="1847088"/>
                  </a:lnTo>
                  <a:lnTo>
                    <a:pt x="3474720" y="1847088"/>
                  </a:lnTo>
                  <a:lnTo>
                    <a:pt x="3496097" y="1842783"/>
                  </a:lnTo>
                  <a:lnTo>
                    <a:pt x="3513534" y="1831038"/>
                  </a:lnTo>
                  <a:lnTo>
                    <a:pt x="3525279" y="1813601"/>
                  </a:lnTo>
                  <a:lnTo>
                    <a:pt x="3529583" y="1792223"/>
                  </a:lnTo>
                  <a:lnTo>
                    <a:pt x="3529583" y="54863"/>
                  </a:lnTo>
                  <a:lnTo>
                    <a:pt x="3525279" y="33486"/>
                  </a:lnTo>
                  <a:lnTo>
                    <a:pt x="3513534" y="16049"/>
                  </a:lnTo>
                  <a:lnTo>
                    <a:pt x="3496097" y="4304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04444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3474720" y="0"/>
                  </a:lnTo>
                  <a:lnTo>
                    <a:pt x="3496097" y="4304"/>
                  </a:lnTo>
                  <a:lnTo>
                    <a:pt x="3513534" y="16049"/>
                  </a:lnTo>
                  <a:lnTo>
                    <a:pt x="3525279" y="33486"/>
                  </a:lnTo>
                  <a:lnTo>
                    <a:pt x="3529583" y="54863"/>
                  </a:lnTo>
                  <a:lnTo>
                    <a:pt x="3529583" y="1792223"/>
                  </a:lnTo>
                  <a:lnTo>
                    <a:pt x="3525279" y="1813601"/>
                  </a:lnTo>
                  <a:lnTo>
                    <a:pt x="3513534" y="1831038"/>
                  </a:lnTo>
                  <a:lnTo>
                    <a:pt x="3496097" y="1842783"/>
                  </a:lnTo>
                  <a:lnTo>
                    <a:pt x="3474720" y="1847088"/>
                  </a:lnTo>
                  <a:lnTo>
                    <a:pt x="54864" y="1847088"/>
                  </a:lnTo>
                  <a:lnTo>
                    <a:pt x="33507" y="1842783"/>
                  </a:lnTo>
                  <a:lnTo>
                    <a:pt x="16068" y="1831038"/>
                  </a:lnTo>
                  <a:lnTo>
                    <a:pt x="4311" y="1813601"/>
                  </a:lnTo>
                  <a:lnTo>
                    <a:pt x="0" y="1792223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91692" y="3278504"/>
            <a:ext cx="165163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How</a:t>
            </a:r>
            <a:r>
              <a:rPr dirty="0" sz="135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it</a:t>
            </a:r>
            <a:r>
              <a:rPr dirty="0" sz="1350" spc="-6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reads</a:t>
            </a:r>
            <a:r>
              <a:rPr dirty="0" sz="13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the</a:t>
            </a:r>
            <a:r>
              <a:rPr dirty="0" sz="13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20" b="1">
                <a:solidFill>
                  <a:srgbClr val="162239"/>
                </a:solidFill>
                <a:latin typeface="Cambria"/>
                <a:cs typeface="Cambria"/>
              </a:rPr>
              <a:t>link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1692" y="4163695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1F2937"/>
                </a:solidFill>
                <a:latin typeface="Calibri"/>
                <a:cs typeface="Calibri"/>
              </a:rPr>
              <a:t>•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1692" y="3756101"/>
            <a:ext cx="2991485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169545" indent="-344805">
              <a:lnSpc>
                <a:spcPct val="106000"/>
              </a:lnSpc>
              <a:spcBef>
                <a:spcPts val="9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Metadata</a:t>
            </a:r>
            <a:r>
              <a:rPr dirty="0" sz="1000" spc="-7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only.</a:t>
            </a:r>
            <a:r>
              <a:rPr dirty="0" sz="1000" spc="229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payload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decrypted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at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any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 point.</a:t>
            </a:r>
            <a:endParaRPr sz="1000">
              <a:latin typeface="Calibri"/>
              <a:cs typeface="Calibri"/>
            </a:endParaRPr>
          </a:p>
          <a:p>
            <a:pPr marL="356870" marR="5080">
              <a:lnSpc>
                <a:spcPct val="106000"/>
              </a:lnSpc>
              <a:spcBef>
                <a:spcPts val="6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JA3</a:t>
            </a:r>
            <a:r>
              <a:rPr dirty="0" sz="1000" spc="-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from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the</a:t>
            </a:r>
            <a:r>
              <a:rPr dirty="0" sz="10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ClientHello,</a:t>
            </a:r>
            <a:r>
              <a:rPr dirty="0" sz="1000" spc="2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which</a:t>
            </a:r>
            <a:r>
              <a:rPr dirty="0" sz="1000" spc="-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crosses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link</a:t>
            </a:r>
            <a:r>
              <a:rPr dirty="0" sz="100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 the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clear.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1692" y="4562983"/>
            <a:ext cx="31184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Nothing</a:t>
            </a:r>
            <a:r>
              <a:rPr dirty="0" sz="1000" spc="-6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inline,</a:t>
            </a:r>
            <a:r>
              <a:rPr dirty="0" sz="1000" spc="229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sensor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adds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attack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surface.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285488" y="3124200"/>
            <a:ext cx="3538854" cy="1856739"/>
            <a:chOff x="4285488" y="3124200"/>
            <a:chExt cx="3538854" cy="1856739"/>
          </a:xfrm>
        </p:grpSpPr>
        <p:sp>
          <p:nvSpPr>
            <p:cNvPr id="49" name="object 49"/>
            <p:cNvSpPr/>
            <p:nvPr/>
          </p:nvSpPr>
          <p:spPr>
            <a:xfrm>
              <a:off x="4290060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3474719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792223"/>
                  </a:lnTo>
                  <a:lnTo>
                    <a:pt x="4304" y="1813601"/>
                  </a:lnTo>
                  <a:lnTo>
                    <a:pt x="16049" y="1831038"/>
                  </a:lnTo>
                  <a:lnTo>
                    <a:pt x="33486" y="1842783"/>
                  </a:lnTo>
                  <a:lnTo>
                    <a:pt x="54863" y="1847088"/>
                  </a:lnTo>
                  <a:lnTo>
                    <a:pt x="3474719" y="1847088"/>
                  </a:lnTo>
                  <a:lnTo>
                    <a:pt x="3496097" y="1842783"/>
                  </a:lnTo>
                  <a:lnTo>
                    <a:pt x="3513534" y="1831038"/>
                  </a:lnTo>
                  <a:lnTo>
                    <a:pt x="3525279" y="1813601"/>
                  </a:lnTo>
                  <a:lnTo>
                    <a:pt x="3529584" y="1792223"/>
                  </a:lnTo>
                  <a:lnTo>
                    <a:pt x="3529584" y="54863"/>
                  </a:lnTo>
                  <a:lnTo>
                    <a:pt x="3525279" y="33486"/>
                  </a:lnTo>
                  <a:lnTo>
                    <a:pt x="3513534" y="16049"/>
                  </a:lnTo>
                  <a:lnTo>
                    <a:pt x="3496097" y="4304"/>
                  </a:lnTo>
                  <a:lnTo>
                    <a:pt x="3474719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290060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474719" y="0"/>
                  </a:lnTo>
                  <a:lnTo>
                    <a:pt x="3496097" y="4304"/>
                  </a:lnTo>
                  <a:lnTo>
                    <a:pt x="3513534" y="16049"/>
                  </a:lnTo>
                  <a:lnTo>
                    <a:pt x="3525279" y="33486"/>
                  </a:lnTo>
                  <a:lnTo>
                    <a:pt x="3529584" y="54863"/>
                  </a:lnTo>
                  <a:lnTo>
                    <a:pt x="3529584" y="1792223"/>
                  </a:lnTo>
                  <a:lnTo>
                    <a:pt x="3525279" y="1813601"/>
                  </a:lnTo>
                  <a:lnTo>
                    <a:pt x="3513534" y="1831038"/>
                  </a:lnTo>
                  <a:lnTo>
                    <a:pt x="3496097" y="1842783"/>
                  </a:lnTo>
                  <a:lnTo>
                    <a:pt x="3474719" y="1847088"/>
                  </a:lnTo>
                  <a:lnTo>
                    <a:pt x="54863" y="1847088"/>
                  </a:lnTo>
                  <a:lnTo>
                    <a:pt x="33486" y="1842783"/>
                  </a:lnTo>
                  <a:lnTo>
                    <a:pt x="16049" y="1831038"/>
                  </a:lnTo>
                  <a:lnTo>
                    <a:pt x="4304" y="1813601"/>
                  </a:lnTo>
                  <a:lnTo>
                    <a:pt x="0" y="1792223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4478273" y="3278504"/>
            <a:ext cx="163893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What</a:t>
            </a:r>
            <a:r>
              <a:rPr dirty="0" sz="13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an</a:t>
            </a:r>
            <a:r>
              <a:rPr dirty="0" sz="135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10" b="1">
                <a:solidFill>
                  <a:srgbClr val="162239"/>
                </a:solidFill>
                <a:latin typeface="Cambria"/>
                <a:cs typeface="Cambria"/>
              </a:rPr>
              <a:t>analyst</a:t>
            </a:r>
            <a:r>
              <a:rPr dirty="0" sz="13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20" b="1">
                <a:solidFill>
                  <a:srgbClr val="162239"/>
                </a:solidFill>
                <a:latin typeface="Cambria"/>
                <a:cs typeface="Cambria"/>
              </a:rPr>
              <a:t>gets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478273" y="3841063"/>
            <a:ext cx="2945765" cy="7397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17-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field</a:t>
            </a:r>
            <a:r>
              <a:rPr dirty="0" sz="1000" spc="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alert:</a:t>
            </a:r>
            <a:r>
              <a:rPr dirty="0" sz="1000" spc="19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5-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tuple,</a:t>
            </a:r>
            <a:r>
              <a:rPr dirty="0" sz="100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class,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severity,</a:t>
            </a:r>
            <a:r>
              <a:rPr dirty="0" sz="1000" spc="-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confidence.</a:t>
            </a:r>
            <a:endParaRPr sz="1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7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3-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6</a:t>
            </a:r>
            <a:r>
              <a:rPr dirty="0" sz="1000" spc="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evidence</a:t>
            </a:r>
            <a:r>
              <a:rPr dirty="0" sz="1000" spc="-5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features,</a:t>
            </a:r>
            <a:r>
              <a:rPr dirty="0" sz="1000" spc="18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each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with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its</a:t>
            </a:r>
            <a:r>
              <a:rPr dirty="0" sz="100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weight.</a:t>
            </a:r>
            <a:endParaRPr sz="1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7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Live</a:t>
            </a:r>
            <a:r>
              <a:rPr dirty="0" sz="1000" spc="-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WebSocket</a:t>
            </a:r>
            <a:r>
              <a:rPr dirty="0" sz="1000" spc="-6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feed,</a:t>
            </a:r>
            <a:r>
              <a:rPr dirty="0" sz="1000" spc="26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an</a:t>
            </a:r>
            <a:r>
              <a:rPr dirty="0" sz="100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end-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of-shift</a:t>
            </a:r>
            <a:r>
              <a:rPr dirty="0" sz="1000" spc="-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report.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071104" y="3124200"/>
            <a:ext cx="3538854" cy="1856739"/>
            <a:chOff x="8071104" y="3124200"/>
            <a:chExt cx="3538854" cy="1856739"/>
          </a:xfrm>
        </p:grpSpPr>
        <p:sp>
          <p:nvSpPr>
            <p:cNvPr id="54" name="object 54"/>
            <p:cNvSpPr/>
            <p:nvPr/>
          </p:nvSpPr>
          <p:spPr>
            <a:xfrm>
              <a:off x="8075676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347472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792223"/>
                  </a:lnTo>
                  <a:lnTo>
                    <a:pt x="4304" y="1813601"/>
                  </a:lnTo>
                  <a:lnTo>
                    <a:pt x="16049" y="1831038"/>
                  </a:lnTo>
                  <a:lnTo>
                    <a:pt x="33486" y="1842783"/>
                  </a:lnTo>
                  <a:lnTo>
                    <a:pt x="54864" y="1847088"/>
                  </a:lnTo>
                  <a:lnTo>
                    <a:pt x="3474720" y="1847088"/>
                  </a:lnTo>
                  <a:lnTo>
                    <a:pt x="3496097" y="1842783"/>
                  </a:lnTo>
                  <a:lnTo>
                    <a:pt x="3513534" y="1831038"/>
                  </a:lnTo>
                  <a:lnTo>
                    <a:pt x="3525279" y="1813601"/>
                  </a:lnTo>
                  <a:lnTo>
                    <a:pt x="3529583" y="1792223"/>
                  </a:lnTo>
                  <a:lnTo>
                    <a:pt x="3529583" y="54863"/>
                  </a:lnTo>
                  <a:lnTo>
                    <a:pt x="3525279" y="33486"/>
                  </a:lnTo>
                  <a:lnTo>
                    <a:pt x="3513534" y="16049"/>
                  </a:lnTo>
                  <a:lnTo>
                    <a:pt x="3496097" y="4304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075676" y="3128772"/>
              <a:ext cx="3529965" cy="1847214"/>
            </a:xfrm>
            <a:custGeom>
              <a:avLst/>
              <a:gdLst/>
              <a:ahLst/>
              <a:cxnLst/>
              <a:rect l="l" t="t" r="r" b="b"/>
              <a:pathLst>
                <a:path w="3529965" h="184721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474720" y="0"/>
                  </a:lnTo>
                  <a:lnTo>
                    <a:pt x="3496097" y="4304"/>
                  </a:lnTo>
                  <a:lnTo>
                    <a:pt x="3513534" y="16049"/>
                  </a:lnTo>
                  <a:lnTo>
                    <a:pt x="3525279" y="33486"/>
                  </a:lnTo>
                  <a:lnTo>
                    <a:pt x="3529583" y="54863"/>
                  </a:lnTo>
                  <a:lnTo>
                    <a:pt x="3529583" y="1792223"/>
                  </a:lnTo>
                  <a:lnTo>
                    <a:pt x="3525279" y="1813601"/>
                  </a:lnTo>
                  <a:lnTo>
                    <a:pt x="3513534" y="1831038"/>
                  </a:lnTo>
                  <a:lnTo>
                    <a:pt x="3496097" y="1842783"/>
                  </a:lnTo>
                  <a:lnTo>
                    <a:pt x="3474720" y="1847088"/>
                  </a:lnTo>
                  <a:lnTo>
                    <a:pt x="54864" y="1847088"/>
                  </a:lnTo>
                  <a:lnTo>
                    <a:pt x="33486" y="1842783"/>
                  </a:lnTo>
                  <a:lnTo>
                    <a:pt x="16049" y="1831038"/>
                  </a:lnTo>
                  <a:lnTo>
                    <a:pt x="4304" y="1813601"/>
                  </a:lnTo>
                  <a:lnTo>
                    <a:pt x="0" y="1792223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8264779" y="3278504"/>
            <a:ext cx="215646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62239"/>
                </a:solidFill>
                <a:latin typeface="Cambria"/>
                <a:cs typeface="Cambria"/>
              </a:rPr>
              <a:t>Innovation</a:t>
            </a:r>
            <a:r>
              <a:rPr dirty="0" sz="1350" spc="-3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b="1">
                <a:solidFill>
                  <a:srgbClr val="162239"/>
                </a:solidFill>
                <a:latin typeface="Cambria"/>
                <a:cs typeface="Cambria"/>
              </a:rPr>
              <a:t>and</a:t>
            </a:r>
            <a:r>
              <a:rPr dirty="0" sz="13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50" spc="-10" b="1">
                <a:solidFill>
                  <a:srgbClr val="162239"/>
                </a:solidFill>
                <a:latin typeface="Cambria"/>
                <a:cs typeface="Cambria"/>
              </a:rPr>
              <a:t>uniqueness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64779" y="4163695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1F2937"/>
                </a:solidFill>
                <a:latin typeface="Calibri"/>
                <a:cs typeface="Calibri"/>
              </a:rPr>
              <a:t>•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264779" y="3756101"/>
            <a:ext cx="2893695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13970" indent="-344805">
              <a:lnSpc>
                <a:spcPct val="106000"/>
              </a:lnSpc>
              <a:spcBef>
                <a:spcPts val="9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Six</a:t>
            </a:r>
            <a:r>
              <a:rPr dirty="0" sz="1000" spc="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narrow</a:t>
            </a:r>
            <a:r>
              <a:rPr dirty="0" sz="1000" spc="-5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detectors,</a:t>
            </a:r>
            <a:r>
              <a:rPr dirty="0" sz="1000" spc="18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one model.</a:t>
            </a:r>
            <a:r>
              <a:rPr dirty="0" sz="100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Each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alert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names</a:t>
            </a:r>
            <a:r>
              <a:rPr dirty="0" sz="100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00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behaviour.</a:t>
            </a:r>
            <a:endParaRPr sz="1000">
              <a:latin typeface="Calibri"/>
              <a:cs typeface="Calibri"/>
            </a:endParaRPr>
          </a:p>
          <a:p>
            <a:pPr marL="356870" marR="5080">
              <a:lnSpc>
                <a:spcPct val="106000"/>
              </a:lnSpc>
              <a:spcBef>
                <a:spcPts val="6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20</a:t>
            </a:r>
            <a:r>
              <a:rPr dirty="0" sz="1000" spc="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papers,</a:t>
            </a:r>
            <a:r>
              <a:rPr dirty="0" sz="1000" spc="-5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2024-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26.</a:t>
            </a:r>
            <a:r>
              <a:rPr dirty="0" sz="1000" spc="24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100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assumes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E495A"/>
                </a:solidFill>
                <a:latin typeface="Calibri"/>
                <a:cs typeface="Calibri"/>
              </a:rPr>
              <a:t>return path.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64779" y="4562983"/>
            <a:ext cx="25603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Built</a:t>
            </a:r>
            <a:r>
              <a:rPr dirty="0" sz="1000" spc="-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for</a:t>
            </a:r>
            <a:r>
              <a:rPr dirty="0" sz="10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the</a:t>
            </a:r>
            <a:r>
              <a:rPr dirty="0" sz="1000" spc="-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constraint,</a:t>
            </a:r>
            <a:r>
              <a:rPr dirty="0" sz="1000" spc="18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100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adapted</a:t>
            </a:r>
            <a:r>
              <a:rPr dirty="0" sz="100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E495A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3E495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99872" y="5135879"/>
            <a:ext cx="11192510" cy="942340"/>
            <a:chOff x="499872" y="5135879"/>
            <a:chExt cx="11192510" cy="942340"/>
          </a:xfrm>
        </p:grpSpPr>
        <p:sp>
          <p:nvSpPr>
            <p:cNvPr id="61" name="object 61"/>
            <p:cNvSpPr/>
            <p:nvPr/>
          </p:nvSpPr>
          <p:spPr>
            <a:xfrm>
              <a:off x="504444" y="5140451"/>
              <a:ext cx="11183620" cy="932815"/>
            </a:xfrm>
            <a:custGeom>
              <a:avLst/>
              <a:gdLst/>
              <a:ahLst/>
              <a:cxnLst/>
              <a:rect l="l" t="t" r="r" b="b"/>
              <a:pathLst>
                <a:path w="11183620" h="932814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877824"/>
                  </a:lnTo>
                  <a:lnTo>
                    <a:pt x="4311" y="899180"/>
                  </a:lnTo>
                  <a:lnTo>
                    <a:pt x="16068" y="916619"/>
                  </a:lnTo>
                  <a:lnTo>
                    <a:pt x="33507" y="928376"/>
                  </a:lnTo>
                  <a:lnTo>
                    <a:pt x="54864" y="932688"/>
                  </a:lnTo>
                  <a:lnTo>
                    <a:pt x="11128248" y="932688"/>
                  </a:lnTo>
                  <a:lnTo>
                    <a:pt x="11149625" y="928376"/>
                  </a:lnTo>
                  <a:lnTo>
                    <a:pt x="11167062" y="916619"/>
                  </a:lnTo>
                  <a:lnTo>
                    <a:pt x="11178807" y="899180"/>
                  </a:lnTo>
                  <a:lnTo>
                    <a:pt x="11183112" y="877824"/>
                  </a:lnTo>
                  <a:lnTo>
                    <a:pt x="11183112" y="54864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04444" y="5140451"/>
              <a:ext cx="11183620" cy="932815"/>
            </a:xfrm>
            <a:custGeom>
              <a:avLst/>
              <a:gdLst/>
              <a:ahLst/>
              <a:cxnLst/>
              <a:rect l="l" t="t" r="r" b="b"/>
              <a:pathLst>
                <a:path w="11183620" h="932814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4"/>
                  </a:lnTo>
                  <a:lnTo>
                    <a:pt x="11183112" y="877824"/>
                  </a:lnTo>
                  <a:lnTo>
                    <a:pt x="11178807" y="899180"/>
                  </a:lnTo>
                  <a:lnTo>
                    <a:pt x="11167062" y="916619"/>
                  </a:lnTo>
                  <a:lnTo>
                    <a:pt x="11149625" y="928376"/>
                  </a:lnTo>
                  <a:lnTo>
                    <a:pt x="11128248" y="932688"/>
                  </a:lnTo>
                  <a:lnTo>
                    <a:pt x="54864" y="932688"/>
                  </a:lnTo>
                  <a:lnTo>
                    <a:pt x="33507" y="928376"/>
                  </a:lnTo>
                  <a:lnTo>
                    <a:pt x="16068" y="916619"/>
                  </a:lnTo>
                  <a:lnTo>
                    <a:pt x="4311" y="899180"/>
                  </a:lnTo>
                  <a:lnTo>
                    <a:pt x="0" y="877824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709980" y="5419471"/>
            <a:ext cx="10729595" cy="354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l"/>
            <a:r>
              <a:rPr dirty="0" sz="1050" b="1">
                <a:latin typeface="Calibri"/>
                <a:cs typeface="Calibri"/>
                <a:solidFill>
                  <a:srgbClr val="B36B00"/>
                </a:solidFill>
              </a:rPr>
              <a:t>Measured.</a:t>
            </a:r>
            <a:r>
              <a:rPr dirty="0" sz="1050" b="0">
                <a:latin typeface="Calibri"/>
                <a:cs typeface="Calibri"/>
                <a:solidFill>
                  <a:srgbClr val="3E495A"/>
                </a:solidFill>
              </a:rPr>
              <a:t> Detection 13,394 flows/sec on one core (was 2,800; ~7×), identical to baseline on every class via a regression gate. 120,000 flows/sec is a target — hardware validation in progress, not a completed benchmark.</a:t>
            </a:r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Technical</a:t>
            </a:r>
            <a:r>
              <a:rPr dirty="0" spc="-85"/>
              <a:t> </a:t>
            </a:r>
            <a:r>
              <a:rPr dirty="0" spc="-10"/>
              <a:t>Approach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34974"/>
            <a:ext cx="6744334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Six</a:t>
            </a:r>
            <a:r>
              <a:rPr dirty="0" sz="1250" spc="-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detectors,</a:t>
            </a:r>
            <a:r>
              <a:rPr dirty="0" sz="12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per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PS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threat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category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(a)-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(f).</a:t>
            </a:r>
            <a:r>
              <a:rPr dirty="0" sz="1250" spc="-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Each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reads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only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features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1250" spc="-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one-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way</a:t>
            </a:r>
            <a:r>
              <a:rPr dirty="0" sz="12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tap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can</a:t>
            </a:r>
            <a:r>
              <a:rPr dirty="0" sz="12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actually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see.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8157" y="1311973"/>
          <a:ext cx="11269345" cy="2077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2971799"/>
                <a:gridCol w="2697479"/>
                <a:gridCol w="4946650"/>
              </a:tblGrid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r>
                        <a:rPr dirty="0" sz="10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reads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Volumetric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protocol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DDoS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packet_rate</a:t>
                      </a:r>
                      <a:r>
                        <a:rPr dirty="0" sz="1000" spc="6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 byte_rate</a:t>
                      </a:r>
                      <a:r>
                        <a:rPr dirty="0" sz="1000" spc="3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src_ip_entropy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(b)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Botnet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C2</a:t>
                      </a:r>
                      <a:r>
                        <a:rPr dirty="0" sz="1000" spc="-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beaconing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FFT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coeff.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variation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periodicity_score</a:t>
                      </a:r>
                      <a:r>
                        <a:rPr dirty="0" sz="1000" spc="8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inter_arrival_cv</a:t>
                      </a:r>
                      <a:r>
                        <a:rPr dirty="0" sz="1000" spc="3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4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dst_fan_in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DGA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domains,</a:t>
                      </a:r>
                      <a:r>
                        <a:rPr dirty="0" sz="1000" spc="6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DNS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tunnelling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LightGBM +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entropy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domain_entropy</a:t>
                      </a:r>
                      <a:r>
                        <a:rPr dirty="0" sz="1000" spc="8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bigram_likelihood</a:t>
                      </a:r>
                      <a:r>
                        <a:rPr dirty="0" sz="1000" spc="7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query_length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(d)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Malware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in encrypted</a:t>
                      </a:r>
                      <a:r>
                        <a:rPr dirty="0" sz="1000" spc="7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sessions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RandomForest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ja3_extensions</a:t>
                      </a:r>
                      <a:r>
                        <a:rPr dirty="0" sz="1000" spc="8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ciphers_count</a:t>
                      </a:r>
                      <a:r>
                        <a:rPr dirty="0" sz="1000" spc="5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packet_size_seq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Reconnaissance</a:t>
                      </a:r>
                      <a:r>
                        <a:rPr dirty="0" sz="1000" spc="114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scanning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Rule-based</a:t>
                      </a:r>
                      <a:r>
                        <a:rPr dirty="0" sz="1000" spc="8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fan-</a:t>
                      </a: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unique_dst_ports</a:t>
                      </a:r>
                      <a:r>
                        <a:rPr dirty="0" sz="1000" spc="7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unique_dst_hosts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exfiltration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sz="1000" spc="4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outbound_bytes_abs</a:t>
                      </a:r>
                      <a:r>
                        <a:rPr dirty="0" sz="1000" spc="1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·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bytes_per_packet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90219" y="3666490"/>
            <a:ext cx="14192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Technologies</a:t>
            </a:r>
            <a:r>
              <a:rPr dirty="0" sz="130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20" b="1">
                <a:solidFill>
                  <a:srgbClr val="162239"/>
                </a:solidFill>
                <a:latin typeface="Cambria"/>
                <a:cs typeface="Cambria"/>
              </a:rPr>
              <a:t>used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4176" y="3666490"/>
            <a:ext cx="101726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Methodology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219" y="4122115"/>
            <a:ext cx="3331210" cy="1850000"/>
          </a:xfrm>
          <a:prstGeom prst="rect">
            <a:avLst/>
          </a:prstGeom>
        </p:spPr>
        <p:txBody>
          <a:bodyPr wrap="square" lIns="0" tIns="70485" rIns="0" bIns="0" rtlCol="0" vert="horz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Languages  </a:t>
            </a:r>
            <a:r>
              <a:rPr sz="900" b="0">
                <a:solidFill>
                  <a:srgbClr val="3E495A"/>
                </a:solidFill>
                <a:latin typeface="Calibri"/>
              </a:rPr>
              <a:t>Python 3.11, TypeScript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Backend  </a:t>
            </a:r>
            <a:r>
              <a:rPr sz="900" b="0">
                <a:solidFill>
                  <a:srgbClr val="3E495A"/>
                </a:solidFill>
                <a:latin typeface="Calibri"/>
              </a:rPr>
              <a:t>FastAPI, asyncio, Uvicorn, WebSocket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Capture  </a:t>
            </a:r>
            <a:r>
              <a:rPr sz="900" b="0">
                <a:solidFill>
                  <a:srgbClr val="3E495A"/>
                </a:solidFill>
                <a:latin typeface="Calibri"/>
              </a:rPr>
              <a:t>dep-free PCAP parser (~270k pkt/s, ~50× vs scapy ~5.3k); NetFlow v5/v9/IPFIX ingest matching lab JSON (replay ≡ live). Scapy fallback.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ML  </a:t>
            </a:r>
            <a:r>
              <a:rPr sz="900" b="0">
                <a:solidFill>
                  <a:srgbClr val="3E495A"/>
                </a:solidFill>
                <a:latin typeface="Calibri"/>
              </a:rPr>
              <a:t>scikit-learn, LightGBM, NumPy, SciPy (FFT)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Frontend  </a:t>
            </a:r>
            <a:r>
              <a:rPr sz="900" b="0">
                <a:solidFill>
                  <a:srgbClr val="3E495A"/>
                </a:solidFill>
                <a:latin typeface="Calibri"/>
              </a:rPr>
              <a:t>React 19, Vite, Recharts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Data  </a:t>
            </a:r>
            <a:r>
              <a:rPr sz="900" b="0">
                <a:solidFill>
                  <a:srgbClr val="3E495A"/>
                </a:solidFill>
                <a:latin typeface="Calibri"/>
              </a:rPr>
              <a:t>PostgreSQL, Redis, SQLite fallback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Deploy  </a:t>
            </a:r>
            <a:r>
              <a:rPr sz="900" b="0">
                <a:solidFill>
                  <a:srgbClr val="3E495A"/>
                </a:solidFill>
                <a:latin typeface="Calibri"/>
              </a:rPr>
              <a:t>Docker Compose, Nginx, Prometheus /health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>
                <a:solidFill>
                  <a:srgbClr val="1F2937"/>
                </a:solidFill>
                <a:latin typeface="Calibri"/>
              </a:rPr>
              <a:t>Hardware  </a:t>
            </a:r>
            <a:r>
              <a:rPr sz="900" b="0">
                <a:solidFill>
                  <a:srgbClr val="3E495A"/>
                </a:solidFill>
                <a:latin typeface="Calibri"/>
              </a:rPr>
              <a:t>Commodity x86 server. No appliance, no GPU.</a:t>
            </a:r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34176" y="4700778"/>
            <a:ext cx="8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3E495A"/>
                </a:solidFill>
                <a:latin typeface="Calibri"/>
                <a:cs typeface="Calibri"/>
              </a:rPr>
              <a:t>•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4176" y="4019339"/>
            <a:ext cx="5360670" cy="98000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algn="l"/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Ingest → flow assembly → feature extraction → batched inference → scoring → alert. NetFlow v5/v9/IPFIX records are decoded to the same JSON schema as lab replay, so both paths are processed identically.</a:t>
            </a:r>
            <a:endParaRPr/>
          </a:p>
          <a:p>
            <a:pPr algn="l"/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PCAP path is now a dependency-free parser (~270,000 packets/sec vs scapy ~5,300). Async queue: capture never blocks on inference. Backpressure on replay, drop-counting on a live tap.</a:t>
            </a:r>
            <a:endParaRPr/>
          </a:p>
          <a:p>
            <a:pPr algn="l"/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Deterministic: seed 42, same corpus gives the same numbers on any machine.</a:t>
            </a:r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242303" y="5117591"/>
            <a:ext cx="5450205" cy="960119"/>
            <a:chOff x="6242303" y="5117591"/>
            <a:chExt cx="5450205" cy="960119"/>
          </a:xfrm>
        </p:grpSpPr>
        <p:sp>
          <p:nvSpPr>
            <p:cNvPr id="12" name="object 12"/>
            <p:cNvSpPr/>
            <p:nvPr/>
          </p:nvSpPr>
          <p:spPr>
            <a:xfrm>
              <a:off x="6246875" y="5122163"/>
              <a:ext cx="5440680" cy="951230"/>
            </a:xfrm>
            <a:custGeom>
              <a:avLst/>
              <a:gdLst/>
              <a:ahLst/>
              <a:cxnLst/>
              <a:rect l="l" t="t" r="r" b="b"/>
              <a:pathLst>
                <a:path w="5440680" h="951229">
                  <a:moveTo>
                    <a:pt x="538581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96112"/>
                  </a:lnTo>
                  <a:lnTo>
                    <a:pt x="4304" y="917468"/>
                  </a:lnTo>
                  <a:lnTo>
                    <a:pt x="16049" y="934907"/>
                  </a:lnTo>
                  <a:lnTo>
                    <a:pt x="33486" y="946664"/>
                  </a:lnTo>
                  <a:lnTo>
                    <a:pt x="54863" y="950976"/>
                  </a:lnTo>
                  <a:lnTo>
                    <a:pt x="5385816" y="950976"/>
                  </a:lnTo>
                  <a:lnTo>
                    <a:pt x="5407193" y="946664"/>
                  </a:lnTo>
                  <a:lnTo>
                    <a:pt x="5424630" y="934907"/>
                  </a:lnTo>
                  <a:lnTo>
                    <a:pt x="5436375" y="917468"/>
                  </a:lnTo>
                  <a:lnTo>
                    <a:pt x="5440680" y="896112"/>
                  </a:lnTo>
                  <a:lnTo>
                    <a:pt x="5440680" y="54863"/>
                  </a:lnTo>
                  <a:lnTo>
                    <a:pt x="5436375" y="33486"/>
                  </a:lnTo>
                  <a:lnTo>
                    <a:pt x="5424630" y="16049"/>
                  </a:lnTo>
                  <a:lnTo>
                    <a:pt x="5407193" y="4304"/>
                  </a:lnTo>
                  <a:lnTo>
                    <a:pt x="5385816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46875" y="5122163"/>
              <a:ext cx="5440680" cy="951230"/>
            </a:xfrm>
            <a:custGeom>
              <a:avLst/>
              <a:gdLst/>
              <a:ahLst/>
              <a:cxnLst/>
              <a:rect l="l" t="t" r="r" b="b"/>
              <a:pathLst>
                <a:path w="5440680" h="95122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5385816" y="0"/>
                  </a:lnTo>
                  <a:lnTo>
                    <a:pt x="5407193" y="4304"/>
                  </a:lnTo>
                  <a:lnTo>
                    <a:pt x="5424630" y="16049"/>
                  </a:lnTo>
                  <a:lnTo>
                    <a:pt x="5436375" y="33486"/>
                  </a:lnTo>
                  <a:lnTo>
                    <a:pt x="5440680" y="54863"/>
                  </a:lnTo>
                  <a:lnTo>
                    <a:pt x="5440680" y="896112"/>
                  </a:lnTo>
                  <a:lnTo>
                    <a:pt x="5436375" y="917468"/>
                  </a:lnTo>
                  <a:lnTo>
                    <a:pt x="5424630" y="934907"/>
                  </a:lnTo>
                  <a:lnTo>
                    <a:pt x="5407193" y="946664"/>
                  </a:lnTo>
                  <a:lnTo>
                    <a:pt x="5385816" y="950976"/>
                  </a:lnTo>
                  <a:lnTo>
                    <a:pt x="54863" y="950976"/>
                  </a:lnTo>
                  <a:lnTo>
                    <a:pt x="33486" y="946664"/>
                  </a:lnTo>
                  <a:lnTo>
                    <a:pt x="16049" y="934907"/>
                  </a:lnTo>
                  <a:lnTo>
                    <a:pt x="4304" y="917468"/>
                  </a:lnTo>
                  <a:lnTo>
                    <a:pt x="0" y="896112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35344" y="5229225"/>
            <a:ext cx="197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What</a:t>
            </a:r>
            <a:r>
              <a:rPr dirty="0" sz="1200" spc="-5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a</a:t>
            </a:r>
            <a:r>
              <a:rPr dirty="0" sz="1200" spc="-2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B36B00"/>
                </a:solidFill>
                <a:latin typeface="Cambria"/>
                <a:cs typeface="Cambria"/>
              </a:rPr>
              <a:t>one-way</a:t>
            </a:r>
            <a:r>
              <a:rPr dirty="0" sz="1200" spc="-2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tap</a:t>
            </a:r>
            <a:r>
              <a:rPr dirty="0" sz="1200" spc="-4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B36B00"/>
                </a:solidFill>
                <a:latin typeface="Cambria"/>
                <a:cs typeface="Cambria"/>
              </a:rPr>
              <a:t>costs </a:t>
            </a:r>
            <a:r>
              <a:rPr dirty="0" sz="1200" spc="-25" b="1">
                <a:solidFill>
                  <a:srgbClr val="B36B00"/>
                </a:solidFill>
                <a:latin typeface="Cambria"/>
                <a:cs typeface="Cambria"/>
              </a:rPr>
              <a:t>us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5344" y="5578551"/>
            <a:ext cx="5010785" cy="330835"/>
          </a:xfrm>
          <a:prstGeom prst="rect">
            <a:avLst/>
          </a:prstGeom>
        </p:spPr>
        <p:txBody>
          <a:bodyPr wrap="square" lIns="0" tIns="6350" rIns="0" bIns="0" rtlCol="0" vert="horz">
            <a:noAutofit/>
          </a:bodyPr>
          <a:lstStyle/>
          <a:p>
            <a:pPr marL="12700" marR="5080" algn="l">
              <a:lnSpc>
                <a:spcPct val="105000"/>
              </a:lnSpc>
              <a:spcBef>
                <a:spcPts val="0"/>
              </a:spcBef>
            </a:pPr>
            <a:r>
              <a:rPr sz="950" b="0">
                <a:solidFill>
                  <a:srgbClr val="3E495A"/>
                </a:solidFill>
                <a:latin typeface="Calibri"/>
              </a:rPr>
              <a:t>JA3S needs the ServerHello, which we cannot see, so we do not use it. syn_ack_ratio and byte_ratio_outbound were removed for the same reason and replaced with one-sided substitutes.</a:t>
            </a:r>
            <a:endParaRPr sz="950">
              <a:latin typeface="Calibri"/>
              <a:cs typeface="Calibri"/>
            </a:endParaRPr>
          </a:p>
          <a:p>
            <a:pPr marL="12700" marR="5080" algn="l">
              <a:lnSpc>
                <a:spcPct val="100000"/>
              </a:lnSpc>
              <a:spcBef>
                <a:spcPts val="314"/>
              </a:spcBef>
            </a:pPr>
            <a:r>
              <a:rPr sz="900" b="0">
                <a:solidFill>
                  <a:srgbClr val="3E495A"/>
                </a:solidFill>
                <a:latin typeface="Calibri"/>
              </a:rPr>
              <a:t>DDoS, exfiltration and TLS-malware models are trained on synthetic data, not captured attack traffic.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Feasibility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Viability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48689"/>
            <a:ext cx="244983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R</a:t>
            </a:r>
            <a:r>
              <a:rPr dirty="0" sz="950" spc="-8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I</a:t>
            </a:r>
            <a:r>
              <a:rPr dirty="0" sz="950" spc="-85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S</a:t>
            </a:r>
            <a:r>
              <a:rPr dirty="0" sz="950" spc="-9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K</a:t>
            </a:r>
            <a:r>
              <a:rPr dirty="0" sz="950" spc="-8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S,</a:t>
            </a:r>
            <a:r>
              <a:rPr dirty="0" sz="950" spc="17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A62B1F"/>
                </a:solidFill>
                <a:latin typeface="Calibri"/>
                <a:cs typeface="Calibri"/>
              </a:rPr>
              <a:t>AND</a:t>
            </a:r>
            <a:r>
              <a:rPr dirty="0" sz="950" spc="20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A62B1F"/>
                </a:solidFill>
                <a:latin typeface="Calibri"/>
                <a:cs typeface="Calibri"/>
              </a:rPr>
              <a:t>WHAT</a:t>
            </a:r>
            <a:r>
              <a:rPr dirty="0" sz="950" spc="19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A62B1F"/>
                </a:solidFill>
                <a:latin typeface="Calibri"/>
                <a:cs typeface="Calibri"/>
              </a:rPr>
              <a:t>WE</a:t>
            </a:r>
            <a:r>
              <a:rPr dirty="0" sz="950" spc="225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A62B1F"/>
                </a:solidFill>
                <a:latin typeface="Calibri"/>
                <a:cs typeface="Calibri"/>
              </a:rPr>
              <a:t>DO</a:t>
            </a:r>
            <a:r>
              <a:rPr dirty="0" sz="950" spc="204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A62B1F"/>
                </a:solidFill>
                <a:latin typeface="Calibri"/>
                <a:cs typeface="Calibri"/>
              </a:rPr>
              <a:t>ABOUT</a:t>
            </a:r>
            <a:r>
              <a:rPr dirty="0" sz="950" spc="19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A62B1F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A62B1F"/>
                </a:solidFill>
                <a:latin typeface="Calibri"/>
                <a:cs typeface="Calibri"/>
              </a:rPr>
              <a:t>ACH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9872" y="1222247"/>
            <a:ext cx="6400800" cy="1198245"/>
            <a:chOff x="499872" y="1222247"/>
            <a:chExt cx="6400800" cy="1198245"/>
          </a:xfrm>
        </p:grpSpPr>
        <p:sp>
          <p:nvSpPr>
            <p:cNvPr id="6" name="object 6"/>
            <p:cNvSpPr/>
            <p:nvPr/>
          </p:nvSpPr>
          <p:spPr>
            <a:xfrm>
              <a:off x="504444" y="122681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6336791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133855"/>
                  </a:lnTo>
                  <a:lnTo>
                    <a:pt x="4311" y="1155233"/>
                  </a:lnTo>
                  <a:lnTo>
                    <a:pt x="16067" y="1172670"/>
                  </a:lnTo>
                  <a:lnTo>
                    <a:pt x="33502" y="1184415"/>
                  </a:lnTo>
                  <a:lnTo>
                    <a:pt x="54851" y="1188719"/>
                  </a:lnTo>
                  <a:lnTo>
                    <a:pt x="6336791" y="1188719"/>
                  </a:lnTo>
                  <a:lnTo>
                    <a:pt x="6358169" y="1184415"/>
                  </a:lnTo>
                  <a:lnTo>
                    <a:pt x="6375606" y="1172670"/>
                  </a:lnTo>
                  <a:lnTo>
                    <a:pt x="6387351" y="1155233"/>
                  </a:lnTo>
                  <a:lnTo>
                    <a:pt x="6391656" y="1133855"/>
                  </a:lnTo>
                  <a:lnTo>
                    <a:pt x="6391656" y="54863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AED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4444" y="122681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0" y="54863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3"/>
                  </a:lnTo>
                  <a:lnTo>
                    <a:pt x="6391656" y="1133855"/>
                  </a:lnTo>
                  <a:lnTo>
                    <a:pt x="6387351" y="1155233"/>
                  </a:lnTo>
                  <a:lnTo>
                    <a:pt x="6375606" y="1172670"/>
                  </a:lnTo>
                  <a:lnTo>
                    <a:pt x="6358169" y="1184415"/>
                  </a:lnTo>
                  <a:lnTo>
                    <a:pt x="6336791" y="1188719"/>
                  </a:lnTo>
                  <a:lnTo>
                    <a:pt x="54851" y="1188719"/>
                  </a:lnTo>
                  <a:lnTo>
                    <a:pt x="33502" y="1184415"/>
                  </a:lnTo>
                  <a:lnTo>
                    <a:pt x="16067" y="1172670"/>
                  </a:lnTo>
                  <a:lnTo>
                    <a:pt x="4311" y="1155233"/>
                  </a:lnTo>
                  <a:lnTo>
                    <a:pt x="0" y="113385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E8CF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91692" y="1348866"/>
            <a:ext cx="335089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Risk 1.</a:t>
            </a:r>
            <a:r>
              <a:rPr dirty="0" sz="1100" spc="26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Real</a:t>
            </a:r>
            <a:r>
              <a:rPr dirty="0" sz="11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diode</a:t>
            </a:r>
            <a:r>
              <a:rPr dirty="0" sz="1100" spc="-4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traffic</a:t>
            </a:r>
            <a:r>
              <a:rPr dirty="0" sz="1100" spc="-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needs</a:t>
            </a:r>
            <a:r>
              <a:rPr dirty="0" sz="11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clearance</a:t>
            </a:r>
            <a:r>
              <a:rPr dirty="0" sz="1100" spc="-4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we</a:t>
            </a:r>
            <a:r>
              <a:rPr dirty="0" sz="1100" spc="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do</a:t>
            </a:r>
            <a:r>
              <a:rPr dirty="0" sz="1100" spc="-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not</a:t>
            </a:r>
            <a:r>
              <a:rPr dirty="0" sz="1100" spc="-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1F2937"/>
                </a:solidFill>
                <a:latin typeface="Calibri"/>
                <a:cs typeface="Calibri"/>
              </a:rPr>
              <a:t>have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692" y="1721866"/>
            <a:ext cx="5991225" cy="48958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35"/>
              </a:spcBef>
            </a:pPr>
            <a:r>
              <a:rPr dirty="0" sz="950" spc="10" b="1">
                <a:solidFill>
                  <a:srgbClr val="1B7E4A"/>
                </a:solidFill>
                <a:latin typeface="Calibri"/>
                <a:cs typeface="Calibri"/>
              </a:rPr>
              <a:t>Mitigation.</a:t>
            </a:r>
            <a:r>
              <a:rPr dirty="0" sz="950" spc="270" b="1">
                <a:solidFill>
                  <a:srgbClr val="1B7E4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build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on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sources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statement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itself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names: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hping3, Slowloris, dnscat2/iodine,</a:t>
            </a:r>
            <a:r>
              <a:rPr dirty="0" sz="9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DGArchive,</a:t>
            </a:r>
            <a:r>
              <a:rPr dirty="0" sz="950" spc="500">
                <a:solidFill>
                  <a:srgbClr val="3E495A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Tranco.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alert</a:t>
            </a:r>
            <a:r>
              <a:rPr dirty="0" sz="950" spc="1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schema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matches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NetFlow/IPFIX,</a:t>
            </a:r>
            <a:r>
              <a:rPr dirty="0" sz="950" spc="1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cleared</a:t>
            </a:r>
            <a:r>
              <a:rPr dirty="0" sz="950" spc="114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operator can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point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sensor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at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live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telemetry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without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code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changes.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66431" y="929639"/>
            <a:ext cx="4425950" cy="1198245"/>
            <a:chOff x="7266431" y="929639"/>
            <a:chExt cx="4425950" cy="1198245"/>
          </a:xfrm>
        </p:grpSpPr>
        <p:sp>
          <p:nvSpPr>
            <p:cNvPr id="27" name="object 27"/>
            <p:cNvSpPr/>
            <p:nvPr/>
          </p:nvSpPr>
          <p:spPr>
            <a:xfrm>
              <a:off x="7271003" y="934211"/>
              <a:ext cx="4417060" cy="1188720"/>
            </a:xfrm>
            <a:custGeom>
              <a:avLst/>
              <a:gdLst/>
              <a:ahLst/>
              <a:cxnLst/>
              <a:rect l="l" t="t" r="r" b="b"/>
              <a:pathLst>
                <a:path w="4417059" h="1188720">
                  <a:moveTo>
                    <a:pt x="4361688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33855"/>
                  </a:lnTo>
                  <a:lnTo>
                    <a:pt x="4304" y="1155233"/>
                  </a:lnTo>
                  <a:lnTo>
                    <a:pt x="16049" y="1172670"/>
                  </a:lnTo>
                  <a:lnTo>
                    <a:pt x="33486" y="1184415"/>
                  </a:lnTo>
                  <a:lnTo>
                    <a:pt x="54864" y="1188720"/>
                  </a:lnTo>
                  <a:lnTo>
                    <a:pt x="4361688" y="1188720"/>
                  </a:lnTo>
                  <a:lnTo>
                    <a:pt x="4383065" y="1184415"/>
                  </a:lnTo>
                  <a:lnTo>
                    <a:pt x="4400502" y="1172670"/>
                  </a:lnTo>
                  <a:lnTo>
                    <a:pt x="4412247" y="1155233"/>
                  </a:lnTo>
                  <a:lnTo>
                    <a:pt x="4416552" y="1133855"/>
                  </a:lnTo>
                  <a:lnTo>
                    <a:pt x="4416552" y="54863"/>
                  </a:lnTo>
                  <a:lnTo>
                    <a:pt x="4412247" y="33486"/>
                  </a:lnTo>
                  <a:lnTo>
                    <a:pt x="4400502" y="16049"/>
                  </a:lnTo>
                  <a:lnTo>
                    <a:pt x="4383065" y="4304"/>
                  </a:lnTo>
                  <a:lnTo>
                    <a:pt x="4361688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271003" y="934211"/>
              <a:ext cx="4417060" cy="1188720"/>
            </a:xfrm>
            <a:custGeom>
              <a:avLst/>
              <a:gdLst/>
              <a:ahLst/>
              <a:cxnLst/>
              <a:rect l="l" t="t" r="r" b="b"/>
              <a:pathLst>
                <a:path w="4417059" h="118872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361688" y="0"/>
                  </a:lnTo>
                  <a:lnTo>
                    <a:pt x="4383065" y="4304"/>
                  </a:lnTo>
                  <a:lnTo>
                    <a:pt x="4400502" y="16049"/>
                  </a:lnTo>
                  <a:lnTo>
                    <a:pt x="4412247" y="33486"/>
                  </a:lnTo>
                  <a:lnTo>
                    <a:pt x="4416552" y="54863"/>
                  </a:lnTo>
                  <a:lnTo>
                    <a:pt x="4416552" y="1133855"/>
                  </a:lnTo>
                  <a:lnTo>
                    <a:pt x="4412247" y="1155233"/>
                  </a:lnTo>
                  <a:lnTo>
                    <a:pt x="4400502" y="1172670"/>
                  </a:lnTo>
                  <a:lnTo>
                    <a:pt x="4383065" y="1184415"/>
                  </a:lnTo>
                  <a:lnTo>
                    <a:pt x="4361688" y="1188720"/>
                  </a:lnTo>
                  <a:lnTo>
                    <a:pt x="54864" y="1188720"/>
                  </a:lnTo>
                  <a:lnTo>
                    <a:pt x="33486" y="1184415"/>
                  </a:lnTo>
                  <a:lnTo>
                    <a:pt x="16049" y="1172670"/>
                  </a:lnTo>
                  <a:lnTo>
                    <a:pt x="4304" y="1155233"/>
                  </a:lnTo>
                  <a:lnTo>
                    <a:pt x="0" y="113385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459726" y="1041018"/>
            <a:ext cx="20008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Feasibility:</a:t>
            </a:r>
            <a:r>
              <a:rPr dirty="0" sz="1300" spc="-3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it</a:t>
            </a:r>
            <a:r>
              <a:rPr dirty="0" sz="1300" spc="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already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20" b="1">
                <a:solidFill>
                  <a:srgbClr val="162239"/>
                </a:solidFill>
                <a:latin typeface="Cambria"/>
                <a:cs typeface="Cambria"/>
              </a:rPr>
              <a:t>runs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59726" y="1779778"/>
            <a:ext cx="88265" cy="1758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3E495A"/>
                </a:solidFill>
                <a:latin typeface="Calibri"/>
                <a:cs typeface="Calibri"/>
              </a:rPr>
              <a:t>•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59726" y="1402182"/>
            <a:ext cx="3676650" cy="720000"/>
          </a:xfrm>
          <a:prstGeom prst="rect">
            <a:avLst/>
          </a:prstGeom>
        </p:spPr>
        <p:txBody>
          <a:bodyPr wrap="square" lIns="0" tIns="11430" rIns="0" bIns="0" rtlCol="0" vert="horz">
            <a:noAutofit/>
          </a:bodyPr>
          <a:lstStyle/>
          <a:p>
            <a:pPr algn="l">
              <a:lnSpc>
                <a:spcPct val="105000"/>
              </a:lnSpc>
              <a:spcBef>
                <a:spcPts val="90"/>
              </a:spcBef>
            </a:pPr>
            <a:r>
              <a:rPr sz="900" b="0">
                <a:solidFill>
                  <a:srgbClr val="3E495A"/>
                </a:solidFill>
                <a:latin typeface="Calibri"/>
              </a:rPr>
              <a:t>Prototype deployed: live SOC dashboard, WebSocket feed, report generator. Software-only on commodity servers; modular detectors.</a:t>
            </a:r>
            <a:endParaRPr/>
          </a:p>
          <a:p>
            <a:pPr algn="l">
              <a:lnSpc>
                <a:spcPct val="100000"/>
              </a:lnSpc>
              <a:spcBef>
                <a:spcPts val="314"/>
              </a:spcBef>
            </a:pPr>
            <a:r>
              <a:rPr sz="850" b="0">
                <a:solidFill>
                  <a:srgbClr val="3E495A"/>
                </a:solidFill>
                <a:latin typeface="Calibri"/>
              </a:rPr>
              <a:t>Detection 2,800 → 13,394 flows/sec on one core (~7×; batched LightGBM, incremental fan-out, bounded state). Regression gate: identical to baseline on every class.</a:t>
            </a:r>
            <a:endParaRPr/>
          </a:p>
          <a:p>
            <a:pPr algn="l">
              <a:lnSpc>
                <a:spcPct val="100000"/>
              </a:lnSpc>
              <a:spcBef>
                <a:spcPts val="220"/>
              </a:spcBef>
            </a:pPr>
            <a:r>
              <a:rPr sz="850" b="0">
                <a:solidFill>
                  <a:srgbClr val="3E495A"/>
                </a:solidFill>
                <a:latin typeface="Calibri"/>
              </a:rPr>
              <a:t>Multi-core pipeline built (receiver → N workers → dst aggregators). 120,000 flows/sec is a target, hardware validation in progress — not measured.</a:t>
            </a:r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9872" y="2502407"/>
            <a:ext cx="6400800" cy="1198245"/>
            <a:chOff x="499872" y="2502407"/>
            <a:chExt cx="6400800" cy="1198245"/>
          </a:xfrm>
        </p:grpSpPr>
        <p:sp>
          <p:nvSpPr>
            <p:cNvPr id="11" name="object 11"/>
            <p:cNvSpPr/>
            <p:nvPr/>
          </p:nvSpPr>
          <p:spPr>
            <a:xfrm>
              <a:off x="504444" y="250697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6336791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1133856"/>
                  </a:lnTo>
                  <a:lnTo>
                    <a:pt x="4311" y="1155233"/>
                  </a:lnTo>
                  <a:lnTo>
                    <a:pt x="16067" y="1172670"/>
                  </a:lnTo>
                  <a:lnTo>
                    <a:pt x="33502" y="1184415"/>
                  </a:lnTo>
                  <a:lnTo>
                    <a:pt x="54851" y="1188720"/>
                  </a:lnTo>
                  <a:lnTo>
                    <a:pt x="6336791" y="1188720"/>
                  </a:lnTo>
                  <a:lnTo>
                    <a:pt x="6358169" y="1184415"/>
                  </a:lnTo>
                  <a:lnTo>
                    <a:pt x="6375606" y="1172670"/>
                  </a:lnTo>
                  <a:lnTo>
                    <a:pt x="6387351" y="1155233"/>
                  </a:lnTo>
                  <a:lnTo>
                    <a:pt x="6391656" y="1133856"/>
                  </a:lnTo>
                  <a:lnTo>
                    <a:pt x="6391656" y="54864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4444" y="250697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0" y="54864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4"/>
                  </a:lnTo>
                  <a:lnTo>
                    <a:pt x="6391656" y="1133856"/>
                  </a:lnTo>
                  <a:lnTo>
                    <a:pt x="6387351" y="1155233"/>
                  </a:lnTo>
                  <a:lnTo>
                    <a:pt x="6375606" y="1172670"/>
                  </a:lnTo>
                  <a:lnTo>
                    <a:pt x="6358169" y="1184415"/>
                  </a:lnTo>
                  <a:lnTo>
                    <a:pt x="6336791" y="1188720"/>
                  </a:lnTo>
                  <a:lnTo>
                    <a:pt x="54851" y="1188720"/>
                  </a:lnTo>
                  <a:lnTo>
                    <a:pt x="33502" y="1184415"/>
                  </a:lnTo>
                  <a:lnTo>
                    <a:pt x="16067" y="1172670"/>
                  </a:lnTo>
                  <a:lnTo>
                    <a:pt x="4311" y="1155233"/>
                  </a:lnTo>
                  <a:lnTo>
                    <a:pt x="0" y="1133856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91692" y="2629662"/>
            <a:ext cx="33032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Risk</a:t>
            </a:r>
            <a:r>
              <a:rPr dirty="0" sz="1100" spc="-15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2.</a:t>
            </a:r>
            <a:r>
              <a:rPr dirty="0" sz="1100" spc="229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C2</a:t>
            </a:r>
            <a:r>
              <a:rPr dirty="0" sz="1100" spc="-2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beacon</a:t>
            </a:r>
            <a:r>
              <a:rPr dirty="0" sz="1100" spc="-5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precision</a:t>
            </a:r>
            <a:r>
              <a:rPr dirty="0" sz="1100" spc="-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is</a:t>
            </a:r>
            <a:r>
              <a:rPr dirty="0" sz="1100" spc="-1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0.30,</a:t>
            </a:r>
            <a:r>
              <a:rPr dirty="0" sz="1100" spc="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our</a:t>
            </a:r>
            <a:r>
              <a:rPr dirty="0" sz="1100" spc="-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weakest</a:t>
            </a:r>
            <a:r>
              <a:rPr dirty="0" sz="1100" spc="-3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F2937"/>
                </a:solidFill>
                <a:latin typeface="Calibri"/>
                <a:cs typeface="Calibri"/>
              </a:rPr>
              <a:t>number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692" y="3081020"/>
            <a:ext cx="5953760" cy="33147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45"/>
              </a:spcBef>
            </a:pPr>
            <a:r>
              <a:rPr dirty="0" sz="950" b="1">
                <a:solidFill>
                  <a:srgbClr val="1B7E4A"/>
                </a:solidFill>
                <a:latin typeface="Calibri"/>
                <a:cs typeface="Calibri"/>
              </a:rPr>
              <a:t>Mitigation.</a:t>
            </a:r>
            <a:r>
              <a:rPr dirty="0" sz="950" spc="434" b="1">
                <a:solidFill>
                  <a:srgbClr val="1B7E4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Scoring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periodicity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without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destination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context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made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NTP</a:t>
            </a:r>
            <a:r>
              <a:rPr dirty="0" sz="950" spc="1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ordinary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telemetry</a:t>
            </a:r>
            <a:r>
              <a:rPr dirty="0" sz="950" spc="10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look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like</a:t>
            </a:r>
            <a:r>
              <a:rPr dirty="0" sz="950" spc="1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beacons.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Fan-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now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gated.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Still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first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thing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would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fix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with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more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time.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9872" y="3782567"/>
            <a:ext cx="6400800" cy="1198245"/>
            <a:chOff x="499872" y="3782567"/>
            <a:chExt cx="6400800" cy="1198245"/>
          </a:xfrm>
        </p:grpSpPr>
        <p:sp>
          <p:nvSpPr>
            <p:cNvPr id="16" name="object 16"/>
            <p:cNvSpPr/>
            <p:nvPr/>
          </p:nvSpPr>
          <p:spPr>
            <a:xfrm>
              <a:off x="504444" y="378713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6336791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1133856"/>
                  </a:lnTo>
                  <a:lnTo>
                    <a:pt x="4311" y="1155233"/>
                  </a:lnTo>
                  <a:lnTo>
                    <a:pt x="16067" y="1172670"/>
                  </a:lnTo>
                  <a:lnTo>
                    <a:pt x="33502" y="1184415"/>
                  </a:lnTo>
                  <a:lnTo>
                    <a:pt x="54851" y="1188720"/>
                  </a:lnTo>
                  <a:lnTo>
                    <a:pt x="6336791" y="1188720"/>
                  </a:lnTo>
                  <a:lnTo>
                    <a:pt x="6358169" y="1184415"/>
                  </a:lnTo>
                  <a:lnTo>
                    <a:pt x="6375606" y="1172670"/>
                  </a:lnTo>
                  <a:lnTo>
                    <a:pt x="6387351" y="1155233"/>
                  </a:lnTo>
                  <a:lnTo>
                    <a:pt x="6391656" y="1133856"/>
                  </a:lnTo>
                  <a:lnTo>
                    <a:pt x="6391656" y="54864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4444" y="3787139"/>
              <a:ext cx="6391910" cy="1188720"/>
            </a:xfrm>
            <a:custGeom>
              <a:avLst/>
              <a:gdLst/>
              <a:ahLst/>
              <a:cxnLst/>
              <a:rect l="l" t="t" r="r" b="b"/>
              <a:pathLst>
                <a:path w="6391909" h="1188720">
                  <a:moveTo>
                    <a:pt x="0" y="54864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4"/>
                  </a:lnTo>
                  <a:lnTo>
                    <a:pt x="6391656" y="1133856"/>
                  </a:lnTo>
                  <a:lnTo>
                    <a:pt x="6387351" y="1155233"/>
                  </a:lnTo>
                  <a:lnTo>
                    <a:pt x="6375606" y="1172670"/>
                  </a:lnTo>
                  <a:lnTo>
                    <a:pt x="6358169" y="1184415"/>
                  </a:lnTo>
                  <a:lnTo>
                    <a:pt x="6336791" y="1188720"/>
                  </a:lnTo>
                  <a:lnTo>
                    <a:pt x="54851" y="1188720"/>
                  </a:lnTo>
                  <a:lnTo>
                    <a:pt x="33502" y="1184415"/>
                  </a:lnTo>
                  <a:lnTo>
                    <a:pt x="16067" y="1172670"/>
                  </a:lnTo>
                  <a:lnTo>
                    <a:pt x="4311" y="1155233"/>
                  </a:lnTo>
                  <a:lnTo>
                    <a:pt x="0" y="1133856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91692" y="3910329"/>
            <a:ext cx="28301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Risk</a:t>
            </a:r>
            <a:r>
              <a:rPr dirty="0" sz="1100" spc="-1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62B1F"/>
                </a:solidFill>
                <a:latin typeface="Calibri"/>
                <a:cs typeface="Calibri"/>
              </a:rPr>
              <a:t>3.</a:t>
            </a:r>
            <a:r>
              <a:rPr dirty="0" sz="1100" spc="240" b="1">
                <a:solidFill>
                  <a:srgbClr val="A62B1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Accuracy</a:t>
            </a:r>
            <a:r>
              <a:rPr dirty="0" sz="1100" spc="-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drifts</a:t>
            </a:r>
            <a:r>
              <a:rPr dirty="0" sz="11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as</a:t>
            </a:r>
            <a:r>
              <a:rPr dirty="0" sz="11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traffic</a:t>
            </a:r>
            <a:r>
              <a:rPr dirty="0" sz="1100" spc="-3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2937"/>
                </a:solidFill>
                <a:latin typeface="Calibri"/>
                <a:cs typeface="Calibri"/>
              </a:rPr>
              <a:t>patterns</a:t>
            </a:r>
            <a:r>
              <a:rPr dirty="0" sz="1100" spc="-6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F2937"/>
                </a:solidFill>
                <a:latin typeface="Calibri"/>
                <a:cs typeface="Calibri"/>
              </a:rPr>
              <a:t>change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266431" y="2228088"/>
            <a:ext cx="4425950" cy="1819910"/>
            <a:chOff x="7266431" y="2228088"/>
            <a:chExt cx="4425950" cy="1819910"/>
          </a:xfrm>
        </p:grpSpPr>
        <p:sp>
          <p:nvSpPr>
            <p:cNvPr id="33" name="object 33"/>
            <p:cNvSpPr/>
            <p:nvPr/>
          </p:nvSpPr>
          <p:spPr>
            <a:xfrm>
              <a:off x="7271003" y="2232660"/>
              <a:ext cx="4417060" cy="1811020"/>
            </a:xfrm>
            <a:custGeom>
              <a:avLst/>
              <a:gdLst/>
              <a:ahLst/>
              <a:cxnLst/>
              <a:rect l="l" t="t" r="r" b="b"/>
              <a:pathLst>
                <a:path w="4417059" h="1811020">
                  <a:moveTo>
                    <a:pt x="4361688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755647"/>
                  </a:lnTo>
                  <a:lnTo>
                    <a:pt x="4304" y="1777025"/>
                  </a:lnTo>
                  <a:lnTo>
                    <a:pt x="16049" y="1794462"/>
                  </a:lnTo>
                  <a:lnTo>
                    <a:pt x="33486" y="1806207"/>
                  </a:lnTo>
                  <a:lnTo>
                    <a:pt x="54864" y="1810512"/>
                  </a:lnTo>
                  <a:lnTo>
                    <a:pt x="4361688" y="1810512"/>
                  </a:lnTo>
                  <a:lnTo>
                    <a:pt x="4383065" y="1806207"/>
                  </a:lnTo>
                  <a:lnTo>
                    <a:pt x="4400502" y="1794462"/>
                  </a:lnTo>
                  <a:lnTo>
                    <a:pt x="4412247" y="1777025"/>
                  </a:lnTo>
                  <a:lnTo>
                    <a:pt x="4416552" y="1755647"/>
                  </a:lnTo>
                  <a:lnTo>
                    <a:pt x="4416552" y="54863"/>
                  </a:lnTo>
                  <a:lnTo>
                    <a:pt x="4412247" y="33486"/>
                  </a:lnTo>
                  <a:lnTo>
                    <a:pt x="4400502" y="16049"/>
                  </a:lnTo>
                  <a:lnTo>
                    <a:pt x="4383065" y="4304"/>
                  </a:lnTo>
                  <a:lnTo>
                    <a:pt x="4361688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271003" y="2232660"/>
              <a:ext cx="4417060" cy="1811020"/>
            </a:xfrm>
            <a:custGeom>
              <a:avLst/>
              <a:gdLst/>
              <a:ahLst/>
              <a:cxnLst/>
              <a:rect l="l" t="t" r="r" b="b"/>
              <a:pathLst>
                <a:path w="4417059" h="181102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361688" y="0"/>
                  </a:lnTo>
                  <a:lnTo>
                    <a:pt x="4383065" y="4304"/>
                  </a:lnTo>
                  <a:lnTo>
                    <a:pt x="4400502" y="16049"/>
                  </a:lnTo>
                  <a:lnTo>
                    <a:pt x="4412247" y="33486"/>
                  </a:lnTo>
                  <a:lnTo>
                    <a:pt x="4416552" y="54863"/>
                  </a:lnTo>
                  <a:lnTo>
                    <a:pt x="4416552" y="1755647"/>
                  </a:lnTo>
                  <a:lnTo>
                    <a:pt x="4412247" y="1777025"/>
                  </a:lnTo>
                  <a:lnTo>
                    <a:pt x="4400502" y="1794462"/>
                  </a:lnTo>
                  <a:lnTo>
                    <a:pt x="4383065" y="1806207"/>
                  </a:lnTo>
                  <a:lnTo>
                    <a:pt x="4361688" y="1810512"/>
                  </a:lnTo>
                  <a:lnTo>
                    <a:pt x="54864" y="1810512"/>
                  </a:lnTo>
                  <a:lnTo>
                    <a:pt x="33486" y="1806207"/>
                  </a:lnTo>
                  <a:lnTo>
                    <a:pt x="16049" y="1794462"/>
                  </a:lnTo>
                  <a:lnTo>
                    <a:pt x="4304" y="1777025"/>
                  </a:lnTo>
                  <a:lnTo>
                    <a:pt x="0" y="1755647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459726" y="2349245"/>
            <a:ext cx="19888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All</a:t>
            </a:r>
            <a:r>
              <a:rPr dirty="0" sz="130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five</a:t>
            </a:r>
            <a:r>
              <a:rPr dirty="0" sz="130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PS</a:t>
            </a:r>
            <a:r>
              <a:rPr dirty="0" sz="1300" spc="-10" b="1">
                <a:solidFill>
                  <a:srgbClr val="162239"/>
                </a:solidFill>
                <a:latin typeface="Cambria"/>
                <a:cs typeface="Cambria"/>
              </a:rPr>
              <a:t> constraints</a:t>
            </a:r>
            <a:r>
              <a:rPr dirty="0" sz="1300" spc="-25" b="1">
                <a:solidFill>
                  <a:srgbClr val="162239"/>
                </a:solidFill>
                <a:latin typeface="Cambria"/>
                <a:cs typeface="Cambria"/>
              </a:rPr>
              <a:t> met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34045" y="2994151"/>
            <a:ext cx="17602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(b)</a:t>
            </a:r>
            <a:r>
              <a:rPr dirty="0" sz="1000" spc="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No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decryption</a:t>
            </a:r>
            <a:r>
              <a:rPr dirty="0" sz="1000" spc="22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798599"/>
                </a:solidFill>
                <a:latin typeface="Calibri"/>
                <a:cs typeface="Calibri"/>
              </a:rPr>
              <a:t>metadata</a:t>
            </a:r>
            <a:r>
              <a:rPr dirty="0" sz="10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798599"/>
                </a:solidFill>
                <a:latin typeface="Calibri"/>
                <a:cs typeface="Calibri"/>
              </a:rPr>
              <a:t>only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78014" y="2723844"/>
            <a:ext cx="2522855" cy="1280160"/>
          </a:xfrm>
          <a:prstGeom prst="rect">
            <a:avLst/>
          </a:prstGeom>
        </p:spPr>
        <p:txBody>
          <a:bodyPr wrap="square" lIns="0" tIns="13970" rIns="0" bIns="0" rtlCol="0" vert="horz">
            <a:noAutofit/>
          </a:bodyPr>
          <a:lstStyle/>
          <a:p>
            <a:pPr algn="l">
              <a:lnSpc>
                <a:spcPct val="100000"/>
              </a:lnSpc>
              <a:spcBef>
                <a:spcPts val="110"/>
              </a:spcBef>
            </a:pPr>
            <a:r>
              <a:rPr sz="1100" b="1">
                <a:solidFill>
                  <a:srgbClr val="1F2937"/>
                </a:solidFill>
                <a:latin typeface="Calibri"/>
              </a:rPr>
              <a:t>(a) </a:t>
            </a:r>
            <a:r>
              <a:rPr sz="1100" b="1">
                <a:solidFill>
                  <a:srgbClr val="1F2937"/>
                </a:solidFill>
                <a:latin typeface="Calibri"/>
              </a:rPr>
              <a:t>Read-only ingest </a:t>
            </a:r>
            <a:r>
              <a:rPr sz="1100" b="0">
                <a:solidFill>
                  <a:srgbClr val="798599"/>
                </a:solidFill>
                <a:latin typeface="Calibri"/>
              </a:rPr>
              <a:t>no send() path exists</a:t>
            </a:r>
            <a:endParaRPr/>
          </a:p>
          <a:p>
            <a:pPr algn="l">
              <a:lnSpc>
                <a:spcPct val="100000"/>
              </a:lnSpc>
              <a:spcBef>
                <a:spcPts val="860"/>
              </a:spcBef>
            </a:pPr>
            <a:r>
              <a:rPr sz="1100" b="1">
                <a:solidFill>
                  <a:srgbClr val="1B7E4A"/>
                </a:solidFill>
                <a:latin typeface="Yu Gothic UI"/>
              </a:rPr>
              <a:t>✓</a:t>
            </a:r>
            <a:endParaRPr/>
          </a:p>
          <a:p>
            <a:pPr algn="l">
              <a:lnSpc>
                <a:spcPct val="100000"/>
              </a:lnSpc>
              <a:spcBef>
                <a:spcPts val="940"/>
              </a:spcBef>
            </a:pPr>
            <a:r>
              <a:rPr sz="1100" b="1">
                <a:solidFill>
                  <a:srgbClr val="1F2937"/>
                </a:solidFill>
                <a:latin typeface="Calibri"/>
              </a:rPr>
              <a:t>(c) </a:t>
            </a:r>
            <a:r>
              <a:rPr sz="1100" b="1">
                <a:solidFill>
                  <a:srgbClr val="1F2937"/>
                </a:solidFill>
                <a:latin typeface="Calibri"/>
              </a:rPr>
              <a:t>Streaming </a:t>
            </a:r>
            <a:r>
              <a:rPr sz="1100" b="0">
                <a:solidFill>
                  <a:srgbClr val="798599"/>
                </a:solidFill>
                <a:latin typeface="Calibri"/>
              </a:rPr>
              <a:t>p50 1.54 ms while serving</a:t>
            </a:r>
            <a:endParaRPr/>
          </a:p>
          <a:p>
            <a:pPr algn="l">
              <a:lnSpc>
                <a:spcPct val="100000"/>
              </a:lnSpc>
              <a:spcBef>
                <a:spcPts val="965"/>
              </a:spcBef>
            </a:pPr>
            <a:r>
              <a:rPr sz="1100" b="1">
                <a:solidFill>
                  <a:srgbClr val="1F2937"/>
                </a:solidFill>
                <a:latin typeface="Calibri"/>
              </a:rPr>
              <a:t>(d) </a:t>
            </a:r>
            <a:r>
              <a:rPr sz="1100" b="0">
                <a:solidFill>
                  <a:srgbClr val="798599"/>
                </a:solidFill>
                <a:latin typeface="Calibri"/>
              </a:rPr>
              <a:t>Measured 13,394/s, 1 core — 120k/s target, unproven</a:t>
            </a:r>
            <a:endParaRPr/>
          </a:p>
          <a:p>
            <a:pPr algn="l">
              <a:lnSpc>
                <a:spcPct val="100000"/>
              </a:lnSpc>
              <a:spcBef>
                <a:spcPts val="860"/>
              </a:spcBef>
            </a:pPr>
            <a:r>
              <a:rPr sz="1100" b="1">
                <a:solidFill>
                  <a:srgbClr val="1B7E4A"/>
                </a:solidFill>
                <a:latin typeface="Yu Gothic UI"/>
              </a:rPr>
              <a:t>✓</a:t>
            </a:r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734045" y="3817366"/>
            <a:ext cx="205486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(e)</a:t>
            </a:r>
            <a:r>
              <a:rPr dirty="0" sz="1000" spc="-1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Alert</a:t>
            </a:r>
            <a:r>
              <a:rPr dirty="0" sz="1000" spc="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F2937"/>
                </a:solidFill>
                <a:latin typeface="Calibri"/>
                <a:cs typeface="Calibri"/>
              </a:rPr>
              <a:t>schema</a:t>
            </a:r>
            <a:r>
              <a:rPr dirty="0" sz="1000" spc="204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98599"/>
                </a:solidFill>
                <a:latin typeface="Calibri"/>
                <a:cs typeface="Calibri"/>
              </a:rPr>
              <a:t>17</a:t>
            </a:r>
            <a:r>
              <a:rPr dirty="0" sz="1000" spc="-1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98599"/>
                </a:solidFill>
                <a:latin typeface="Calibri"/>
                <a:cs typeface="Calibri"/>
              </a:rPr>
              <a:t>fields</a:t>
            </a:r>
            <a:r>
              <a:rPr dirty="0" sz="10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98599"/>
                </a:solidFill>
                <a:latin typeface="Calibri"/>
                <a:cs typeface="Calibri"/>
              </a:rPr>
              <a:t>incl.</a:t>
            </a:r>
            <a:r>
              <a:rPr dirty="0" sz="10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798599"/>
                </a:solidFill>
                <a:latin typeface="Calibri"/>
                <a:cs typeface="Calibri"/>
              </a:rPr>
              <a:t>severity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58557" y="4187190"/>
            <a:ext cx="107505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0D7B7A"/>
                </a:solidFill>
                <a:latin typeface="Calibri"/>
                <a:cs typeface="Calibri"/>
              </a:rPr>
              <a:t>R</a:t>
            </a:r>
            <a:r>
              <a:rPr dirty="0" sz="950" spc="-70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D7B7A"/>
                </a:solidFill>
                <a:latin typeface="Calibri"/>
                <a:cs typeface="Calibri"/>
              </a:rPr>
              <a:t>UNNI</a:t>
            </a:r>
            <a:r>
              <a:rPr dirty="0" sz="950" spc="-70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0D7B7A"/>
                </a:solidFill>
                <a:latin typeface="Calibri"/>
                <a:cs typeface="Calibri"/>
              </a:rPr>
              <a:t>NG</a:t>
            </a:r>
            <a:r>
              <a:rPr dirty="0" sz="950" spc="204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0D7B7A"/>
                </a:solidFill>
                <a:latin typeface="Calibri"/>
                <a:cs typeface="Calibri"/>
              </a:rPr>
              <a:t>T</a:t>
            </a:r>
            <a:r>
              <a:rPr dirty="0" sz="950" spc="-80" b="1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D7B7A"/>
                </a:solidFill>
                <a:latin typeface="Calibri"/>
                <a:cs typeface="Calibri"/>
              </a:rPr>
              <a:t>ODAY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1692" y="4361814"/>
            <a:ext cx="5582920" cy="331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10" b="1">
                <a:solidFill>
                  <a:srgbClr val="1B7E4A"/>
                </a:solidFill>
                <a:latin typeface="Calibri"/>
                <a:cs typeface="Calibri"/>
              </a:rPr>
              <a:t>Mitigation.</a:t>
            </a:r>
            <a:r>
              <a:rPr dirty="0" sz="950" spc="270" b="1">
                <a:solidFill>
                  <a:srgbClr val="1B7E4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Detectors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are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independent,</a:t>
            </a:r>
            <a:r>
              <a:rPr dirty="0" sz="9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can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be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retrained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isolation.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metric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ships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beside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naive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baseline,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silently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broken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model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visible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rather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than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flattering.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9872" y="5081015"/>
            <a:ext cx="6400800" cy="1280000"/>
            <a:chOff x="499872" y="5081015"/>
            <a:chExt cx="6400800" cy="996950"/>
          </a:xfrm>
        </p:grpSpPr>
        <p:sp>
          <p:nvSpPr>
            <p:cNvPr id="21" name="object 21"/>
            <p:cNvSpPr/>
            <p:nvPr/>
          </p:nvSpPr>
          <p:spPr>
            <a:xfrm>
              <a:off x="504444" y="5085587"/>
              <a:ext cx="6391910" cy="988060"/>
            </a:xfrm>
            <a:custGeom>
              <a:avLst/>
              <a:gdLst/>
              <a:ahLst/>
              <a:cxnLst/>
              <a:rect l="l" t="t" r="r" b="b"/>
              <a:pathLst>
                <a:path w="6391909" h="988060">
                  <a:moveTo>
                    <a:pt x="6336791" y="0"/>
                  </a:moveTo>
                  <a:lnTo>
                    <a:pt x="54876" y="0"/>
                  </a:lnTo>
                  <a:lnTo>
                    <a:pt x="33513" y="4304"/>
                  </a:lnTo>
                  <a:lnTo>
                    <a:pt x="16070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932675"/>
                  </a:lnTo>
                  <a:lnTo>
                    <a:pt x="4311" y="954038"/>
                  </a:lnTo>
                  <a:lnTo>
                    <a:pt x="16070" y="971481"/>
                  </a:lnTo>
                  <a:lnTo>
                    <a:pt x="33513" y="983240"/>
                  </a:lnTo>
                  <a:lnTo>
                    <a:pt x="54876" y="987552"/>
                  </a:lnTo>
                  <a:lnTo>
                    <a:pt x="6336791" y="987552"/>
                  </a:lnTo>
                  <a:lnTo>
                    <a:pt x="6358169" y="983240"/>
                  </a:lnTo>
                  <a:lnTo>
                    <a:pt x="6375606" y="971481"/>
                  </a:lnTo>
                  <a:lnTo>
                    <a:pt x="6387351" y="954038"/>
                  </a:lnTo>
                  <a:lnTo>
                    <a:pt x="6391656" y="932675"/>
                  </a:lnTo>
                  <a:lnTo>
                    <a:pt x="6391656" y="54863"/>
                  </a:lnTo>
                  <a:lnTo>
                    <a:pt x="6387351" y="33486"/>
                  </a:lnTo>
                  <a:lnTo>
                    <a:pt x="6375606" y="16049"/>
                  </a:lnTo>
                  <a:lnTo>
                    <a:pt x="6358169" y="4304"/>
                  </a:lnTo>
                  <a:lnTo>
                    <a:pt x="6336791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04444" y="5085587"/>
              <a:ext cx="6391910" cy="988060"/>
            </a:xfrm>
            <a:custGeom>
              <a:avLst/>
              <a:gdLst/>
              <a:ahLst/>
              <a:cxnLst/>
              <a:rect l="l" t="t" r="r" b="b"/>
              <a:pathLst>
                <a:path w="6391909" h="988060">
                  <a:moveTo>
                    <a:pt x="0" y="54863"/>
                  </a:moveTo>
                  <a:lnTo>
                    <a:pt x="4311" y="33486"/>
                  </a:lnTo>
                  <a:lnTo>
                    <a:pt x="16070" y="16049"/>
                  </a:lnTo>
                  <a:lnTo>
                    <a:pt x="33513" y="4304"/>
                  </a:lnTo>
                  <a:lnTo>
                    <a:pt x="54876" y="0"/>
                  </a:lnTo>
                  <a:lnTo>
                    <a:pt x="6336791" y="0"/>
                  </a:lnTo>
                  <a:lnTo>
                    <a:pt x="6358169" y="4304"/>
                  </a:lnTo>
                  <a:lnTo>
                    <a:pt x="6375606" y="16049"/>
                  </a:lnTo>
                  <a:lnTo>
                    <a:pt x="6387351" y="33486"/>
                  </a:lnTo>
                  <a:lnTo>
                    <a:pt x="6391656" y="54863"/>
                  </a:lnTo>
                  <a:lnTo>
                    <a:pt x="6391656" y="932675"/>
                  </a:lnTo>
                  <a:lnTo>
                    <a:pt x="6387351" y="954038"/>
                  </a:lnTo>
                  <a:lnTo>
                    <a:pt x="6375606" y="971481"/>
                  </a:lnTo>
                  <a:lnTo>
                    <a:pt x="6358169" y="983240"/>
                  </a:lnTo>
                  <a:lnTo>
                    <a:pt x="6336791" y="987552"/>
                  </a:lnTo>
                  <a:lnTo>
                    <a:pt x="54876" y="987552"/>
                  </a:lnTo>
                  <a:lnTo>
                    <a:pt x="33513" y="983240"/>
                  </a:lnTo>
                  <a:lnTo>
                    <a:pt x="16070" y="971481"/>
                  </a:lnTo>
                  <a:lnTo>
                    <a:pt x="4311" y="954038"/>
                  </a:lnTo>
                  <a:lnTo>
                    <a:pt x="0" y="93267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91692" y="5192648"/>
            <a:ext cx="2967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62239"/>
                </a:solidFill>
                <a:latin typeface="Cambria"/>
                <a:cs typeface="Cambria"/>
              </a:rPr>
              <a:t>Weaknesses</a:t>
            </a:r>
            <a:r>
              <a:rPr dirty="0" sz="1200" spc="-6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62239"/>
                </a:solidFill>
                <a:latin typeface="Cambria"/>
                <a:cs typeface="Cambria"/>
              </a:rPr>
              <a:t>we</a:t>
            </a:r>
            <a:r>
              <a:rPr dirty="0" sz="120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62239"/>
                </a:solidFill>
                <a:latin typeface="Cambria"/>
                <a:cs typeface="Cambria"/>
              </a:rPr>
              <a:t>found</a:t>
            </a:r>
            <a:r>
              <a:rPr dirty="0" sz="1200" spc="-10" b="1">
                <a:solidFill>
                  <a:srgbClr val="162239"/>
                </a:solidFill>
                <a:latin typeface="Cambria"/>
                <a:cs typeface="Cambria"/>
              </a:rPr>
              <a:t> ourselves,</a:t>
            </a:r>
            <a:r>
              <a:rPr dirty="0" sz="1200" spc="-5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62239"/>
                </a:solidFill>
                <a:latin typeface="Cambria"/>
                <a:cs typeface="Cambria"/>
              </a:rPr>
              <a:t>and</a:t>
            </a:r>
            <a:r>
              <a:rPr dirty="0" sz="1200" spc="-1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162239"/>
                </a:solidFill>
                <a:latin typeface="Cambria"/>
                <a:cs typeface="Cambria"/>
              </a:rPr>
              <a:t>fixed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40" name="object 40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9480" y="4425696"/>
            <a:ext cx="2139696" cy="1115568"/>
          </a:xfrm>
          <a:prstGeom prst="rect">
            <a:avLst/>
          </a:prstGeom>
        </p:spPr>
      </p:pic>
      <p:pic>
        <p:nvPicPr>
          <p:cNvPr id="41" name="object 41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6335" y="4425696"/>
            <a:ext cx="2139696" cy="111556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91692" y="5806541"/>
            <a:ext cx="863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50">
                <a:solidFill>
                  <a:srgbClr val="3E495A"/>
                </a:solidFill>
                <a:latin typeface="Calibri"/>
                <a:cs typeface="Calibri"/>
              </a:rPr>
              <a:t>•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1692" y="5473700"/>
            <a:ext cx="5702935" cy="900000"/>
          </a:xfrm>
          <a:prstGeom prst="rect">
            <a:avLst/>
          </a:prstGeom>
        </p:spPr>
        <p:txBody>
          <a:bodyPr wrap="square" lIns="0" tIns="13970" rIns="0" bIns="0" rtlCol="0" vert="horz">
            <a:noAutofit/>
          </a:bodyPr>
          <a:lstStyle/>
          <a:p>
            <a:pPr algn="l">
              <a:lnSpc>
                <a:spcPct val="100000"/>
              </a:lnSpc>
              <a:spcBef>
                <a:spcPts val="62"/>
              </a:spcBef>
            </a:pPr>
            <a:r>
              <a:rPr sz="800" b="0">
                <a:solidFill>
                  <a:srgbClr val="3E495A"/>
                </a:solidFill>
                <a:latin typeface="Calibri"/>
              </a:rPr>
              <a:t>DGA scored AUC 1.00 on our first corpus — domain length alone separated the classes. Rebuilt on 142,582 real domains, dropped length: CV AUC 0.9966. DDoS fired on every SYN burst; moved to flow rate plus source-IP entropy.</a:t>
            </a:r>
            <a:endParaRPr/>
          </a:p>
          <a:p>
            <a:pPr algn="l">
              <a:lnSpc>
                <a:spcPct val="100000"/>
              </a:lnSpc>
              <a:spcBef>
                <a:spcPts val="47"/>
              </a:spcBef>
            </a:pPr>
            <a:r>
              <a:rPr sz="800" b="0">
                <a:solidFill>
                  <a:srgbClr val="3E495A"/>
                </a:solidFill>
                <a:latin typeface="Calibri"/>
              </a:rPr>
              <a:t>Three correctness bugs, all fixed: alerts not reliably persisted under load (single WAL connection, batched writes, 20k alerts/sec+); live capture re-enqueued every active flow on every packet (now FIN/RST or timeout); DNS-over-UDP never parsed, so PCAP uploads could not trigger DGA or DNS-tunnel — JA3 was a placeholder, now computed.</a:t>
            </a:r>
            <a:endParaRPr/>
          </a:p>
          <a:p>
            <a:pPr algn="l">
              <a:lnSpc>
                <a:spcPct val="100000"/>
              </a:lnSpc>
              <a:spcBef>
                <a:spcPts val="47"/>
              </a:spcBef>
            </a:pPr>
            <a:r>
              <a:rPr sz="800" b="0">
                <a:solidFill>
                  <a:srgbClr val="3E495A"/>
                </a:solidFill>
                <a:latin typeface="Calibri"/>
              </a:rPr>
              <a:t>Our own multi-core regression: naive source-IP sharding dropped C2 to 0% because lab beacons randomise source IP — destination-side aggregation restored full parity. DDoS / exfil / TLS models remain trained on synthetic data, not captured attacks.</a:t>
            </a:r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258557" y="5668467"/>
            <a:ext cx="4267835" cy="380000"/>
          </a:xfrm>
          <a:prstGeom prst="rect">
            <a:avLst/>
          </a:prstGeom>
        </p:spPr>
        <p:txBody>
          <a:bodyPr wrap="square" lIns="0" tIns="17145" rIns="0" bIns="0" rtlCol="0" vert="horz">
            <a:noAutofit/>
          </a:bodyPr>
          <a:lstStyle/>
          <a:p>
            <a:pPr algn="l">
              <a:lnSpc>
                <a:spcPct val="100000"/>
              </a:lnSpc>
              <a:spcBef>
                <a:spcPts val="62"/>
              </a:spcBef>
            </a:pPr>
            <a:r>
              <a:rPr sz="850" b="1">
                <a:solidFill>
                  <a:srgbClr val="B36B00"/>
                </a:solidFill>
                <a:latin typeface="Calibri"/>
              </a:rPr>
              <a:t>Not built yet: </a:t>
            </a:r>
            <a:r>
              <a:rPr sz="850" b="0">
                <a:solidFill>
                  <a:srgbClr val="798599"/>
                </a:solidFill>
                <a:latin typeface="Calibri"/>
              </a:rPr>
              <a:t>JA4 fingerprints, QUIC — named in the PS, still roadmap only.</a:t>
            </a:r>
            <a:endParaRPr/>
          </a:p>
          <a:p>
            <a:pPr algn="l">
              <a:lnSpc>
                <a:spcPct val="100000"/>
              </a:lnSpc>
              <a:spcBef>
                <a:spcPts val="31"/>
              </a:spcBef>
            </a:pPr>
            <a:r>
              <a:rPr sz="850" b="0">
                <a:solidFill>
                  <a:srgbClr val="798599"/>
                </a:solidFill>
                <a:latin typeface="Calibri"/>
              </a:rPr>
              <a:t>Some dashboard constraint / diode status labels are static, not live checks. 120,000 flows/sec: target, hardware validation in progress.</a:t>
            </a:r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96823" y="871727"/>
            <a:ext cx="11195685" cy="963294"/>
            <a:chOff x="496823" y="871727"/>
            <a:chExt cx="11195685" cy="963294"/>
          </a:xfrm>
        </p:grpSpPr>
        <p:sp>
          <p:nvSpPr>
            <p:cNvPr id="5" name="object 5"/>
            <p:cNvSpPr/>
            <p:nvPr/>
          </p:nvSpPr>
          <p:spPr>
            <a:xfrm>
              <a:off x="502919" y="877823"/>
              <a:ext cx="11183620" cy="951230"/>
            </a:xfrm>
            <a:custGeom>
              <a:avLst/>
              <a:gdLst/>
              <a:ahLst/>
              <a:cxnLst/>
              <a:rect l="l" t="t" r="r" b="b"/>
              <a:pathLst>
                <a:path w="11183620" h="951230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96112"/>
                  </a:lnTo>
                  <a:lnTo>
                    <a:pt x="4311" y="917489"/>
                  </a:lnTo>
                  <a:lnTo>
                    <a:pt x="16068" y="934926"/>
                  </a:lnTo>
                  <a:lnTo>
                    <a:pt x="33507" y="946671"/>
                  </a:lnTo>
                  <a:lnTo>
                    <a:pt x="54864" y="950976"/>
                  </a:lnTo>
                  <a:lnTo>
                    <a:pt x="11128248" y="950976"/>
                  </a:lnTo>
                  <a:lnTo>
                    <a:pt x="11149625" y="946671"/>
                  </a:lnTo>
                  <a:lnTo>
                    <a:pt x="11167062" y="934926"/>
                  </a:lnTo>
                  <a:lnTo>
                    <a:pt x="11178807" y="917489"/>
                  </a:lnTo>
                  <a:lnTo>
                    <a:pt x="11183112" y="896112"/>
                  </a:lnTo>
                  <a:lnTo>
                    <a:pt x="11183112" y="54863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19" y="877823"/>
              <a:ext cx="11183620" cy="951230"/>
            </a:xfrm>
            <a:custGeom>
              <a:avLst/>
              <a:gdLst/>
              <a:ahLst/>
              <a:cxnLst/>
              <a:rect l="l" t="t" r="r" b="b"/>
              <a:pathLst>
                <a:path w="11183620" h="951230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3"/>
                  </a:lnTo>
                  <a:lnTo>
                    <a:pt x="11183112" y="896112"/>
                  </a:lnTo>
                  <a:lnTo>
                    <a:pt x="11178807" y="917489"/>
                  </a:lnTo>
                  <a:lnTo>
                    <a:pt x="11167062" y="934926"/>
                  </a:lnTo>
                  <a:lnTo>
                    <a:pt x="11149625" y="946671"/>
                  </a:lnTo>
                  <a:lnTo>
                    <a:pt x="11128248" y="950976"/>
                  </a:lnTo>
                  <a:lnTo>
                    <a:pt x="54864" y="950976"/>
                  </a:lnTo>
                  <a:lnTo>
                    <a:pt x="33507" y="946671"/>
                  </a:lnTo>
                  <a:lnTo>
                    <a:pt x="16068" y="934926"/>
                  </a:lnTo>
                  <a:lnTo>
                    <a:pt x="4311" y="917489"/>
                  </a:lnTo>
                  <a:lnTo>
                    <a:pt x="0" y="896112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09980" y="1123010"/>
            <a:ext cx="250063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106805" algn="l"/>
                <a:tab pos="1621155" algn="l"/>
              </a:tabLst>
            </a:pP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2700" spc="-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27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2700" spc="-50" b="1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	6</a:t>
            </a:r>
            <a:r>
              <a:rPr dirty="0" sz="2700" spc="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27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4890" y="1017523"/>
            <a:ext cx="6741159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PS</a:t>
            </a:r>
            <a:r>
              <a:rPr dirty="0" sz="12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threat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r>
              <a:rPr dirty="0" sz="12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detectable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unidirectional</a:t>
            </a:r>
            <a:r>
              <a:rPr dirty="0" sz="120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4099"/>
              </a:lnSpc>
              <a:spcBef>
                <a:spcPts val="5"/>
              </a:spcBef>
            </a:pP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Working:</a:t>
            </a:r>
            <a:r>
              <a:rPr dirty="0" sz="1000" spc="-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Suricata,</a:t>
            </a:r>
            <a:r>
              <a:rPr dirty="0" sz="1000" spc="-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Zeek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commercial</a:t>
            </a:r>
            <a:r>
              <a:rPr dirty="0" sz="1000" spc="-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NDR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each</a:t>
            </a:r>
            <a:r>
              <a:rPr dirty="0" sz="1000" spc="-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require</a:t>
            </a:r>
            <a:r>
              <a:rPr dirty="0" sz="1000" spc="-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return</a:t>
            </a:r>
            <a:r>
              <a:rPr dirty="0" sz="1000" spc="-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path,</a:t>
            </a:r>
            <a:r>
              <a:rPr dirty="0" sz="10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so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on</a:t>
            </a:r>
            <a:r>
              <a:rPr dirty="0" sz="10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000" spc="-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diode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link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their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coverage</a:t>
            </a:r>
            <a:r>
              <a:rPr dirty="0" sz="1000" spc="-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is</a:t>
            </a:r>
            <a:r>
              <a:rPr dirty="0" sz="10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0</a:t>
            </a:r>
            <a:r>
              <a:rPr dirty="0" sz="1000" spc="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of</a:t>
            </a:r>
            <a:r>
              <a:rPr dirty="0" sz="1000" spc="-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6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today.</a:t>
            </a:r>
            <a:r>
              <a:rPr dirty="0" sz="1000" spc="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THREX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covers</a:t>
            </a:r>
            <a:r>
              <a:rPr dirty="0" sz="1000" spc="-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all</a:t>
            </a:r>
            <a:r>
              <a:rPr dirty="0" sz="100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six,</a:t>
            </a:r>
            <a:r>
              <a:rPr dirty="0" sz="1000" spc="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our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own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ablation</a:t>
            </a:r>
            <a:r>
              <a:rPr dirty="0" sz="1000" spc="-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shows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removing</a:t>
            </a:r>
            <a:r>
              <a:rPr dirty="0" sz="1000" spc="-8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return</a:t>
            </a:r>
            <a:r>
              <a:rPr dirty="0" sz="1000" spc="-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direction</a:t>
            </a:r>
            <a:r>
              <a:rPr dirty="0" sz="1000" spc="-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costs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0.000</a:t>
            </a:r>
            <a:r>
              <a:rPr dirty="0" sz="1000" spc="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F1</a:t>
            </a:r>
            <a:r>
              <a:rPr dirty="0" sz="1000" spc="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once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one-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sided</a:t>
            </a:r>
            <a:r>
              <a:rPr dirty="0" sz="1000" spc="-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substitute</a:t>
            </a:r>
            <a:r>
              <a:rPr dirty="0" sz="10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features</a:t>
            </a:r>
            <a:r>
              <a:rPr dirty="0" sz="1000" spc="-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C8D3E3"/>
                </a:solidFill>
                <a:latin typeface="Calibri"/>
                <a:cs typeface="Calibri"/>
              </a:rPr>
              <a:t>are</a:t>
            </a:r>
            <a:r>
              <a:rPr dirty="0" sz="1000" spc="50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used.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8157" y="1988629"/>
          <a:ext cx="11269345" cy="214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6345"/>
                <a:gridCol w="1847214"/>
                <a:gridCol w="1847214"/>
                <a:gridCol w="1856104"/>
                <a:gridCol w="1856104"/>
              </a:tblGrid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Capability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Suricata</a:t>
                      </a:r>
                      <a:r>
                        <a:rPr dirty="0" sz="10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Zeek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Commercial</a:t>
                      </a:r>
                      <a:r>
                        <a:rPr dirty="0" sz="1000" spc="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NDR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SIEM</a:t>
                      </a:r>
                      <a:r>
                        <a:rPr dirty="0" sz="100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162239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Works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one-way</a:t>
                      </a:r>
                      <a:r>
                        <a:rPr dirty="0" sz="1000" spc="7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diode</a:t>
                      </a:r>
                      <a:r>
                        <a:rPr dirty="0" sz="1000" spc="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Partial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dirty="0" sz="1000" spc="6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dirty="0" sz="1000" spc="4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decryption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Partial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n/a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Per-alert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evidence</a:t>
                      </a:r>
                      <a:r>
                        <a:rPr dirty="0" sz="1000" spc="8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analysts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Rule</a:t>
                      </a:r>
                      <a:r>
                        <a:rPr dirty="0" sz="1000" spc="3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Limited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dirty="0" sz="1000" spc="5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latency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1.54</a:t>
                      </a:r>
                      <a:r>
                        <a:rPr dirty="0" sz="1000" spc="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ms</a:t>
                      </a:r>
                      <a:r>
                        <a:rPr dirty="0" sz="1000" spc="-1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p50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Minutes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Adds</a:t>
                      </a:r>
                      <a:r>
                        <a:rPr dirty="0" sz="1000" spc="1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attack</a:t>
                      </a:r>
                      <a:r>
                        <a:rPr dirty="0" sz="1000" spc="3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surface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Agent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2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appliance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 spc="-2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Open-</a:t>
                      </a:r>
                      <a:r>
                        <a:rPr dirty="0" sz="1000" spc="-10" b="1">
                          <a:solidFill>
                            <a:srgbClr val="0D7B7A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Open-source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licence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000" spc="5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3E495A"/>
                          </a:solidFill>
                          <a:latin typeface="Calibri"/>
                          <a:cs typeface="Calibri"/>
                        </a:rPr>
                        <a:t>licence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96823" y="4218432"/>
            <a:ext cx="2682240" cy="1054735"/>
            <a:chOff x="496823" y="4218432"/>
            <a:chExt cx="2682240" cy="1054735"/>
          </a:xfrm>
        </p:grpSpPr>
        <p:sp>
          <p:nvSpPr>
            <p:cNvPr id="11" name="object 11"/>
            <p:cNvSpPr/>
            <p:nvPr/>
          </p:nvSpPr>
          <p:spPr>
            <a:xfrm>
              <a:off x="50291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4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11" y="1008929"/>
                  </a:lnTo>
                  <a:lnTo>
                    <a:pt x="16068" y="1026366"/>
                  </a:lnTo>
                  <a:lnTo>
                    <a:pt x="33507" y="1038111"/>
                  </a:lnTo>
                  <a:lnTo>
                    <a:pt x="54864" y="1042416"/>
                  </a:lnTo>
                  <a:lnTo>
                    <a:pt x="2615184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4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291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2615184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4" y="1042416"/>
                  </a:lnTo>
                  <a:lnTo>
                    <a:pt x="54864" y="1042416"/>
                  </a:lnTo>
                  <a:lnTo>
                    <a:pt x="33507" y="1038111"/>
                  </a:lnTo>
                  <a:lnTo>
                    <a:pt x="16068" y="1026366"/>
                  </a:lnTo>
                  <a:lnTo>
                    <a:pt x="4311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02919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no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800" b="1">
                <a:solidFill>
                  <a:srgbClr val="FFFFFF"/>
                </a:solidFill>
                <a:latin typeface="Cambria"/>
              </a:rPr>
              <a:t>13,394</a:t>
            </a:r>
            <a:endParaRPr/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sz="1050" b="0">
                <a:solidFill>
                  <a:srgbClr val="C8D3E3"/>
                </a:solidFill>
                <a:latin typeface="Calibri"/>
              </a:rPr>
              <a:t>flows / sec</a:t>
            </a:r>
            <a:endParaRPr/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850" b="0">
                <a:solidFill>
                  <a:srgbClr val="8FA1BB"/>
                </a:solidFill>
                <a:latin typeface="Calibri"/>
              </a:rPr>
              <a:t>1-core detection · was 2,800</a:t>
            </a:r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331464" y="4218432"/>
            <a:ext cx="2682240" cy="1054735"/>
            <a:chOff x="3331464" y="4218432"/>
            <a:chExt cx="2682240" cy="1054735"/>
          </a:xfrm>
        </p:grpSpPr>
        <p:sp>
          <p:nvSpPr>
            <p:cNvPr id="15" name="object 15"/>
            <p:cNvSpPr/>
            <p:nvPr/>
          </p:nvSpPr>
          <p:spPr>
            <a:xfrm>
              <a:off x="3337560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4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04" y="1008929"/>
                  </a:lnTo>
                  <a:lnTo>
                    <a:pt x="16049" y="1026366"/>
                  </a:lnTo>
                  <a:lnTo>
                    <a:pt x="33486" y="1038111"/>
                  </a:lnTo>
                  <a:lnTo>
                    <a:pt x="54863" y="1042416"/>
                  </a:lnTo>
                  <a:lnTo>
                    <a:pt x="2615184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4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37560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615184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4" y="1042416"/>
                  </a:lnTo>
                  <a:lnTo>
                    <a:pt x="54863" y="1042416"/>
                  </a:lnTo>
                  <a:lnTo>
                    <a:pt x="33486" y="1038111"/>
                  </a:lnTo>
                  <a:lnTo>
                    <a:pt x="16049" y="1026366"/>
                  </a:lnTo>
                  <a:lnTo>
                    <a:pt x="4304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337559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840"/>
              </a:spcBef>
            </a:pPr>
            <a:r>
              <a:rPr dirty="0" sz="2800" spc="-20" b="1">
                <a:solidFill>
                  <a:srgbClr val="FFFFFF"/>
                </a:solidFill>
                <a:latin typeface="Cambria"/>
                <a:cs typeface="Cambria"/>
              </a:rPr>
              <a:t>1.54</a:t>
            </a:r>
            <a:endParaRPr sz="2800">
              <a:latin typeface="Cambria"/>
              <a:cs typeface="Cambria"/>
            </a:endParaRPr>
          </a:p>
          <a:p>
            <a:pPr algn="ctr" marL="2540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ms</a:t>
            </a:r>
            <a:r>
              <a:rPr dirty="0" sz="105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p50 </a:t>
            </a:r>
            <a:r>
              <a:rPr dirty="0" sz="1050" spc="-10">
                <a:solidFill>
                  <a:srgbClr val="C8D3E3"/>
                </a:solidFill>
                <a:latin typeface="Calibri"/>
                <a:cs typeface="Calibri"/>
              </a:rPr>
              <a:t>latency</a:t>
            </a:r>
            <a:endParaRPr sz="105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380"/>
              </a:spcBef>
            </a:pPr>
            <a:r>
              <a:rPr dirty="0" sz="850">
                <a:solidFill>
                  <a:srgbClr val="8FA1BB"/>
                </a:solidFill>
                <a:latin typeface="Calibri"/>
                <a:cs typeface="Calibri"/>
              </a:rPr>
              <a:t>while</a:t>
            </a: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 serving</a:t>
            </a:r>
            <a:r>
              <a:rPr dirty="0" sz="850" spc="10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8FA1BB"/>
                </a:solidFill>
                <a:latin typeface="Calibri"/>
                <a:cs typeface="Calibri"/>
              </a:rPr>
              <a:t>live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66103" y="4218432"/>
            <a:ext cx="2682240" cy="1054735"/>
            <a:chOff x="6166103" y="4218432"/>
            <a:chExt cx="2682240" cy="1054735"/>
          </a:xfrm>
        </p:grpSpPr>
        <p:sp>
          <p:nvSpPr>
            <p:cNvPr id="19" name="object 19"/>
            <p:cNvSpPr/>
            <p:nvPr/>
          </p:nvSpPr>
          <p:spPr>
            <a:xfrm>
              <a:off x="617219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3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04" y="1008929"/>
                  </a:lnTo>
                  <a:lnTo>
                    <a:pt x="16049" y="1026366"/>
                  </a:lnTo>
                  <a:lnTo>
                    <a:pt x="33486" y="1038111"/>
                  </a:lnTo>
                  <a:lnTo>
                    <a:pt x="54863" y="1042416"/>
                  </a:lnTo>
                  <a:lnTo>
                    <a:pt x="2615183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3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7219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615183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3" y="1042416"/>
                  </a:lnTo>
                  <a:lnTo>
                    <a:pt x="54863" y="1042416"/>
                  </a:lnTo>
                  <a:lnTo>
                    <a:pt x="33486" y="1038111"/>
                  </a:lnTo>
                  <a:lnTo>
                    <a:pt x="16049" y="1026366"/>
                  </a:lnTo>
                  <a:lnTo>
                    <a:pt x="4304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72200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840"/>
              </a:spcBef>
            </a:pPr>
            <a:r>
              <a:rPr dirty="0" sz="2800" spc="-10" b="1">
                <a:solidFill>
                  <a:srgbClr val="FFFFFF"/>
                </a:solidFill>
                <a:latin typeface="Cambria"/>
                <a:cs typeface="Cambria"/>
              </a:rPr>
              <a:t>0.9966</a:t>
            </a:r>
            <a:endParaRPr sz="2800">
              <a:latin typeface="Cambria"/>
              <a:cs typeface="Cambria"/>
            </a:endParaRPr>
          </a:p>
          <a:p>
            <a:pPr algn="ctr" marL="5715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DGA</a:t>
            </a:r>
            <a:r>
              <a:rPr dirty="0" sz="105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CV</a:t>
            </a:r>
            <a:r>
              <a:rPr dirty="0" sz="1050" spc="-1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C8D3E3"/>
                </a:solidFill>
                <a:latin typeface="Calibri"/>
                <a:cs typeface="Calibri"/>
              </a:rPr>
              <a:t>AUC</a:t>
            </a:r>
            <a:endParaRPr sz="105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380"/>
              </a:spcBef>
            </a:pP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baseline</a:t>
            </a:r>
            <a:r>
              <a:rPr dirty="0" sz="850" spc="55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0.9384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000743" y="4218432"/>
            <a:ext cx="2682240" cy="1054735"/>
            <a:chOff x="9000743" y="4218432"/>
            <a:chExt cx="2682240" cy="1054735"/>
          </a:xfrm>
        </p:grpSpPr>
        <p:sp>
          <p:nvSpPr>
            <p:cNvPr id="23" name="object 23"/>
            <p:cNvSpPr/>
            <p:nvPr/>
          </p:nvSpPr>
          <p:spPr>
            <a:xfrm>
              <a:off x="900683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2615183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987552"/>
                  </a:lnTo>
                  <a:lnTo>
                    <a:pt x="4304" y="1008929"/>
                  </a:lnTo>
                  <a:lnTo>
                    <a:pt x="16049" y="1026366"/>
                  </a:lnTo>
                  <a:lnTo>
                    <a:pt x="33486" y="1038111"/>
                  </a:lnTo>
                  <a:lnTo>
                    <a:pt x="54863" y="1042416"/>
                  </a:lnTo>
                  <a:lnTo>
                    <a:pt x="2615183" y="1042416"/>
                  </a:lnTo>
                  <a:lnTo>
                    <a:pt x="2636561" y="1038111"/>
                  </a:lnTo>
                  <a:lnTo>
                    <a:pt x="2653998" y="1026366"/>
                  </a:lnTo>
                  <a:lnTo>
                    <a:pt x="2665743" y="1008929"/>
                  </a:lnTo>
                  <a:lnTo>
                    <a:pt x="2670048" y="987552"/>
                  </a:lnTo>
                  <a:lnTo>
                    <a:pt x="2670048" y="54864"/>
                  </a:lnTo>
                  <a:lnTo>
                    <a:pt x="2665743" y="33486"/>
                  </a:lnTo>
                  <a:lnTo>
                    <a:pt x="2653998" y="16049"/>
                  </a:lnTo>
                  <a:lnTo>
                    <a:pt x="2636561" y="4304"/>
                  </a:lnTo>
                  <a:lnTo>
                    <a:pt x="2615183" y="0"/>
                  </a:lnTo>
                  <a:close/>
                </a:path>
              </a:pathLst>
            </a:custGeom>
            <a:solidFill>
              <a:srgbClr val="1622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006839" y="4224528"/>
              <a:ext cx="2670175" cy="1042669"/>
            </a:xfrm>
            <a:custGeom>
              <a:avLst/>
              <a:gdLst/>
              <a:ahLst/>
              <a:cxnLst/>
              <a:rect l="l" t="t" r="r" b="b"/>
              <a:pathLst>
                <a:path w="2670175" h="104267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615183" y="0"/>
                  </a:lnTo>
                  <a:lnTo>
                    <a:pt x="2636561" y="4304"/>
                  </a:lnTo>
                  <a:lnTo>
                    <a:pt x="2653998" y="16049"/>
                  </a:lnTo>
                  <a:lnTo>
                    <a:pt x="2665743" y="33486"/>
                  </a:lnTo>
                  <a:lnTo>
                    <a:pt x="2670048" y="54864"/>
                  </a:lnTo>
                  <a:lnTo>
                    <a:pt x="2670048" y="987552"/>
                  </a:lnTo>
                  <a:lnTo>
                    <a:pt x="2665743" y="1008929"/>
                  </a:lnTo>
                  <a:lnTo>
                    <a:pt x="2653998" y="1026366"/>
                  </a:lnTo>
                  <a:lnTo>
                    <a:pt x="2636561" y="1038111"/>
                  </a:lnTo>
                  <a:lnTo>
                    <a:pt x="2615183" y="1042416"/>
                  </a:lnTo>
                  <a:lnTo>
                    <a:pt x="54863" y="1042416"/>
                  </a:lnTo>
                  <a:lnTo>
                    <a:pt x="33486" y="1038111"/>
                  </a:lnTo>
                  <a:lnTo>
                    <a:pt x="16049" y="1026366"/>
                  </a:lnTo>
                  <a:lnTo>
                    <a:pt x="4304" y="1008929"/>
                  </a:lnTo>
                  <a:lnTo>
                    <a:pt x="0" y="987552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1622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006840" y="4224528"/>
            <a:ext cx="2670175" cy="104266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840"/>
              </a:spcBef>
            </a:pPr>
            <a:r>
              <a:rPr dirty="0" sz="2800" spc="-5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2800">
              <a:latin typeface="Cambria"/>
              <a:cs typeface="Cambria"/>
            </a:endParaRPr>
          </a:p>
          <a:p>
            <a:pPr algn="ctr" marL="3810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solidFill>
                  <a:srgbClr val="C8D3E3"/>
                </a:solidFill>
                <a:latin typeface="Calibri"/>
                <a:cs typeface="Calibri"/>
              </a:rPr>
              <a:t>dropped</a:t>
            </a:r>
            <a:r>
              <a:rPr dirty="0" sz="1050" spc="-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C8D3E3"/>
                </a:solidFill>
                <a:latin typeface="Calibri"/>
                <a:cs typeface="Calibri"/>
              </a:rPr>
              <a:t>flows</a:t>
            </a:r>
            <a:endParaRPr sz="1050">
              <a:latin typeface="Calibri"/>
              <a:cs typeface="Calibri"/>
            </a:endParaRPr>
          </a:p>
          <a:p>
            <a:pPr algn="ctr" marL="3175">
              <a:lnSpc>
                <a:spcPct val="100000"/>
              </a:lnSpc>
              <a:spcBef>
                <a:spcPts val="380"/>
              </a:spcBef>
            </a:pP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measured,</a:t>
            </a:r>
            <a:r>
              <a:rPr dirty="0" sz="850" spc="30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8FA1BB"/>
                </a:solidFill>
                <a:latin typeface="Calibri"/>
                <a:cs typeface="Calibri"/>
              </a:rPr>
              <a:t>not</a:t>
            </a:r>
            <a:r>
              <a:rPr dirty="0" sz="850" spc="10">
                <a:solidFill>
                  <a:srgbClr val="8FA1BB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8FA1BB"/>
                </a:solidFill>
                <a:latin typeface="Calibri"/>
                <a:cs typeface="Calibri"/>
              </a:rPr>
              <a:t>assumed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9872" y="5428488"/>
            <a:ext cx="7370445" cy="868680"/>
            <a:chOff x="499872" y="5428488"/>
            <a:chExt cx="7370445" cy="868680"/>
          </a:xfrm>
        </p:grpSpPr>
        <p:sp>
          <p:nvSpPr>
            <p:cNvPr id="27" name="object 27"/>
            <p:cNvSpPr/>
            <p:nvPr/>
          </p:nvSpPr>
          <p:spPr>
            <a:xfrm>
              <a:off x="504444" y="5433060"/>
              <a:ext cx="7360920" cy="859790"/>
            </a:xfrm>
            <a:custGeom>
              <a:avLst/>
              <a:gdLst/>
              <a:ahLst/>
              <a:cxnLst/>
              <a:rect l="l" t="t" r="r" b="b"/>
              <a:pathLst>
                <a:path w="7360920" h="859789">
                  <a:moveTo>
                    <a:pt x="73060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04671"/>
                  </a:lnTo>
                  <a:lnTo>
                    <a:pt x="4311" y="826028"/>
                  </a:lnTo>
                  <a:lnTo>
                    <a:pt x="16068" y="843467"/>
                  </a:lnTo>
                  <a:lnTo>
                    <a:pt x="33507" y="855224"/>
                  </a:lnTo>
                  <a:lnTo>
                    <a:pt x="54864" y="859535"/>
                  </a:lnTo>
                  <a:lnTo>
                    <a:pt x="7306056" y="859535"/>
                  </a:lnTo>
                  <a:lnTo>
                    <a:pt x="7327433" y="855224"/>
                  </a:lnTo>
                  <a:lnTo>
                    <a:pt x="7344870" y="843467"/>
                  </a:lnTo>
                  <a:lnTo>
                    <a:pt x="7356615" y="826028"/>
                  </a:lnTo>
                  <a:lnTo>
                    <a:pt x="7360920" y="804671"/>
                  </a:lnTo>
                  <a:lnTo>
                    <a:pt x="7360920" y="54863"/>
                  </a:lnTo>
                  <a:lnTo>
                    <a:pt x="7356615" y="33486"/>
                  </a:lnTo>
                  <a:lnTo>
                    <a:pt x="7344870" y="16049"/>
                  </a:lnTo>
                  <a:lnTo>
                    <a:pt x="7327433" y="4304"/>
                  </a:lnTo>
                  <a:lnTo>
                    <a:pt x="7306056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4444" y="5433060"/>
              <a:ext cx="7360920" cy="859790"/>
            </a:xfrm>
            <a:custGeom>
              <a:avLst/>
              <a:gdLst/>
              <a:ahLst/>
              <a:cxnLst/>
              <a:rect l="l" t="t" r="r" b="b"/>
              <a:pathLst>
                <a:path w="7360920" h="85978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7306056" y="0"/>
                  </a:lnTo>
                  <a:lnTo>
                    <a:pt x="7327433" y="4304"/>
                  </a:lnTo>
                  <a:lnTo>
                    <a:pt x="7344870" y="16049"/>
                  </a:lnTo>
                  <a:lnTo>
                    <a:pt x="7356615" y="33486"/>
                  </a:lnTo>
                  <a:lnTo>
                    <a:pt x="7360920" y="54863"/>
                  </a:lnTo>
                  <a:lnTo>
                    <a:pt x="7360920" y="804671"/>
                  </a:lnTo>
                  <a:lnTo>
                    <a:pt x="7356615" y="826028"/>
                  </a:lnTo>
                  <a:lnTo>
                    <a:pt x="7344870" y="843467"/>
                  </a:lnTo>
                  <a:lnTo>
                    <a:pt x="7327433" y="855224"/>
                  </a:lnTo>
                  <a:lnTo>
                    <a:pt x="7306056" y="859535"/>
                  </a:lnTo>
                  <a:lnTo>
                    <a:pt x="54864" y="859535"/>
                  </a:lnTo>
                  <a:lnTo>
                    <a:pt x="33507" y="855224"/>
                  </a:lnTo>
                  <a:lnTo>
                    <a:pt x="16068" y="843467"/>
                  </a:lnTo>
                  <a:lnTo>
                    <a:pt x="4311" y="826028"/>
                  </a:lnTo>
                  <a:lnTo>
                    <a:pt x="0" y="804671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91692" y="5518200"/>
            <a:ext cx="62547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162239"/>
                </a:solidFill>
                <a:latin typeface="Cambria"/>
                <a:cs typeface="Cambria"/>
              </a:rPr>
              <a:t>Benefits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1692" y="5790387"/>
            <a:ext cx="6753859" cy="3854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370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950" b="1">
                <a:solidFill>
                  <a:srgbClr val="1F2937"/>
                </a:solidFill>
                <a:latin typeface="Calibri"/>
                <a:cs typeface="Calibri"/>
              </a:rPr>
              <a:t>Economic.</a:t>
            </a:r>
            <a:r>
              <a:rPr dirty="0" sz="950" spc="18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Open-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source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ML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stack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commodity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servers.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appliance,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per-seat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licence,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versus high-licence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commercial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NDR.</a:t>
            </a:r>
            <a:endParaRPr sz="9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80"/>
              </a:spcBef>
              <a:buFont typeface="Calibri"/>
              <a:buChar char="•"/>
              <a:tabLst>
                <a:tab pos="356870" algn="l"/>
              </a:tabLst>
            </a:pPr>
            <a:r>
              <a:rPr dirty="0" sz="950" b="1">
                <a:solidFill>
                  <a:srgbClr val="1F2937"/>
                </a:solidFill>
                <a:latin typeface="Calibri"/>
                <a:cs typeface="Calibri"/>
              </a:rPr>
              <a:t>Operational.</a:t>
            </a:r>
            <a:r>
              <a:rPr dirty="0" sz="950" spc="240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Six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threat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classes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from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passive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sensor;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analysts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triage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from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evidence,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bare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 score.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16823" y="5428488"/>
            <a:ext cx="3575685" cy="868680"/>
            <a:chOff x="8116823" y="5428488"/>
            <a:chExt cx="3575685" cy="868680"/>
          </a:xfrm>
        </p:grpSpPr>
        <p:sp>
          <p:nvSpPr>
            <p:cNvPr id="32" name="object 32"/>
            <p:cNvSpPr/>
            <p:nvPr/>
          </p:nvSpPr>
          <p:spPr>
            <a:xfrm>
              <a:off x="8121395" y="5433060"/>
              <a:ext cx="3566160" cy="859790"/>
            </a:xfrm>
            <a:custGeom>
              <a:avLst/>
              <a:gdLst/>
              <a:ahLst/>
              <a:cxnLst/>
              <a:rect l="l" t="t" r="r" b="b"/>
              <a:pathLst>
                <a:path w="3566159" h="859789">
                  <a:moveTo>
                    <a:pt x="351129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04671"/>
                  </a:lnTo>
                  <a:lnTo>
                    <a:pt x="4304" y="826028"/>
                  </a:lnTo>
                  <a:lnTo>
                    <a:pt x="16049" y="843467"/>
                  </a:lnTo>
                  <a:lnTo>
                    <a:pt x="33486" y="855224"/>
                  </a:lnTo>
                  <a:lnTo>
                    <a:pt x="54863" y="859535"/>
                  </a:lnTo>
                  <a:lnTo>
                    <a:pt x="3511296" y="859535"/>
                  </a:lnTo>
                  <a:lnTo>
                    <a:pt x="3532673" y="855224"/>
                  </a:lnTo>
                  <a:lnTo>
                    <a:pt x="3550110" y="843467"/>
                  </a:lnTo>
                  <a:lnTo>
                    <a:pt x="3561855" y="826028"/>
                  </a:lnTo>
                  <a:lnTo>
                    <a:pt x="3566159" y="804671"/>
                  </a:lnTo>
                  <a:lnTo>
                    <a:pt x="3566159" y="54863"/>
                  </a:lnTo>
                  <a:lnTo>
                    <a:pt x="3561855" y="33486"/>
                  </a:lnTo>
                  <a:lnTo>
                    <a:pt x="3550110" y="16049"/>
                  </a:lnTo>
                  <a:lnTo>
                    <a:pt x="3532673" y="4304"/>
                  </a:lnTo>
                  <a:lnTo>
                    <a:pt x="3511296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121395" y="5433060"/>
              <a:ext cx="3566160" cy="859790"/>
            </a:xfrm>
            <a:custGeom>
              <a:avLst/>
              <a:gdLst/>
              <a:ahLst/>
              <a:cxnLst/>
              <a:rect l="l" t="t" r="r" b="b"/>
              <a:pathLst>
                <a:path w="3566159" h="85978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511296" y="0"/>
                  </a:lnTo>
                  <a:lnTo>
                    <a:pt x="3532673" y="4304"/>
                  </a:lnTo>
                  <a:lnTo>
                    <a:pt x="3550110" y="16049"/>
                  </a:lnTo>
                  <a:lnTo>
                    <a:pt x="3561855" y="33486"/>
                  </a:lnTo>
                  <a:lnTo>
                    <a:pt x="3566159" y="54863"/>
                  </a:lnTo>
                  <a:lnTo>
                    <a:pt x="3566159" y="804671"/>
                  </a:lnTo>
                  <a:lnTo>
                    <a:pt x="3561855" y="826028"/>
                  </a:lnTo>
                  <a:lnTo>
                    <a:pt x="3550110" y="843467"/>
                  </a:lnTo>
                  <a:lnTo>
                    <a:pt x="3532673" y="855224"/>
                  </a:lnTo>
                  <a:lnTo>
                    <a:pt x="3511296" y="859535"/>
                  </a:lnTo>
                  <a:lnTo>
                    <a:pt x="54863" y="859535"/>
                  </a:lnTo>
                  <a:lnTo>
                    <a:pt x="33486" y="855224"/>
                  </a:lnTo>
                  <a:lnTo>
                    <a:pt x="16049" y="843467"/>
                  </a:lnTo>
                  <a:lnTo>
                    <a:pt x="4304" y="826028"/>
                  </a:lnTo>
                  <a:lnTo>
                    <a:pt x="0" y="804671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310498" y="5518200"/>
            <a:ext cx="2743835" cy="643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B36B00"/>
                </a:solidFill>
                <a:latin typeface="Cambria"/>
                <a:cs typeface="Cambria"/>
              </a:rPr>
              <a:t>Reproducible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05300"/>
              </a:lnSpc>
              <a:spcBef>
                <a:spcPts val="969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figure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regenerates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from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scripts/regenerate_evaluation.py.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Seed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42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throughout.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References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811" y="265093"/>
            <a:ext cx="1038231" cy="484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0219" y="934974"/>
            <a:ext cx="100564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20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papers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 reviewed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(2024-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26). Five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of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six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research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dimensions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are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well</a:t>
            </a:r>
            <a:r>
              <a:rPr dirty="0" sz="1250" spc="-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served.</a:t>
            </a:r>
            <a:r>
              <a:rPr dirty="0" sz="12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sixth,</a:t>
            </a:r>
            <a:r>
              <a:rPr dirty="0" sz="12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unidirectional</a:t>
            </a:r>
            <a:r>
              <a:rPr dirty="0" sz="12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diode</a:t>
            </a:r>
            <a:r>
              <a:rPr dirty="0" sz="12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link,</a:t>
            </a:r>
            <a:r>
              <a:rPr dirty="0" sz="12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12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one</a:t>
            </a:r>
            <a:r>
              <a:rPr dirty="0" sz="12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NTRO</a:t>
            </a:r>
            <a:r>
              <a:rPr dirty="0" sz="1250" spc="-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actually</a:t>
            </a:r>
            <a:r>
              <a:rPr dirty="0" sz="1250" spc="-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3E495A"/>
                </a:solidFill>
                <a:latin typeface="Calibri"/>
                <a:cs typeface="Calibri"/>
              </a:rPr>
              <a:t>operates</a:t>
            </a:r>
            <a:r>
              <a:rPr dirty="0" sz="12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3E495A"/>
                </a:solidFill>
                <a:latin typeface="Calibri"/>
                <a:cs typeface="Calibri"/>
              </a:rPr>
              <a:t>in.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9" y="1342466"/>
            <a:ext cx="21875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Data</a:t>
            </a:r>
            <a:r>
              <a:rPr dirty="0" sz="1300" spc="-4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sources</a:t>
            </a:r>
            <a:r>
              <a:rPr dirty="0" sz="1300" spc="-4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we</a:t>
            </a:r>
            <a:r>
              <a:rPr dirty="0" sz="1300" spc="-4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162239"/>
                </a:solidFill>
                <a:latin typeface="Cambria"/>
                <a:cs typeface="Cambria"/>
              </a:rPr>
              <a:t>actually</a:t>
            </a:r>
            <a:r>
              <a:rPr dirty="0" sz="1300" spc="-5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300" spc="-25" b="1">
                <a:solidFill>
                  <a:srgbClr val="162239"/>
                </a:solidFill>
                <a:latin typeface="Cambria"/>
                <a:cs typeface="Cambria"/>
              </a:rPr>
              <a:t>use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6885" y="1351280"/>
            <a:ext cx="159258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R</a:t>
            </a:r>
            <a:r>
              <a:rPr dirty="0" sz="950" spc="-8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798599"/>
                </a:solidFill>
                <a:latin typeface="Calibri"/>
                <a:cs typeface="Calibri"/>
              </a:rPr>
              <a:t>E</a:t>
            </a:r>
            <a:r>
              <a:rPr dirty="0" sz="950" spc="-80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798599"/>
                </a:solidFill>
                <a:latin typeface="Calibri"/>
                <a:cs typeface="Calibri"/>
              </a:rPr>
              <a:t>PRESENTATIVE</a:t>
            </a:r>
            <a:r>
              <a:rPr dirty="0" sz="950" spc="16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798599"/>
                </a:solidFill>
                <a:latin typeface="Calibri"/>
                <a:cs typeface="Calibri"/>
              </a:rPr>
              <a:t>PAPE</a:t>
            </a:r>
            <a:r>
              <a:rPr dirty="0" sz="950" spc="-75" b="1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50" spc="25" b="1">
                <a:solidFill>
                  <a:srgbClr val="798599"/>
                </a:solidFill>
                <a:latin typeface="Calibri"/>
                <a:cs typeface="Calibri"/>
              </a:rPr>
              <a:t>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219" y="1818843"/>
            <a:ext cx="4724400" cy="15500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DGArchive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dgarchive.caad.fkie.fraunhofer.de — 52,665 DGA domains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Tranco top-1M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tranco-list.eu — 89,917 benign domains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hping3 / Slowloris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SYN and UDP floods, slow HTTP exhaustion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dnscat2 / iodine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DNS tunnelling captures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iperf3 / Ostinato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benign background load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CIC-IDS, CTU-13, TON_IoT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cross-checked; all bidirectional, hence our own ablation</a:t>
            </a:r>
            <a:endParaRPr/>
          </a:p>
          <a:p>
            <a:pPr algn="l"/>
            <a:r>
              <a:rPr dirty="0" sz="950" b="1">
                <a:latin typeface="Calibri"/>
                <a:cs typeface="Calibri"/>
                <a:solidFill>
                  <a:srgbClr val="162239"/>
                </a:solidFill>
              </a:rPr>
              <a:t>Ingest (new)  </a:t>
            </a:r>
            <a:r>
              <a:rPr dirty="0" sz="950" b="0">
                <a:latin typeface="Calibri"/>
                <a:cs typeface="Calibri"/>
                <a:solidFill>
                  <a:srgbClr val="3E495A"/>
                </a:solidFill>
              </a:rPr>
              <a:t>NetFlow v5/v9/IPFIX now decoded to the lab JSON schema (replay and live records processed identically). Dependency-free PCAP parser ~270,000 pkt/s vs scapy ~5,300 (~50×).</a:t>
            </a:r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7604759" y="1606296"/>
            <a:ext cx="4087495" cy="1216660"/>
            <a:chOff x="7604759" y="1606296"/>
            <a:chExt cx="4087495" cy="1216660"/>
          </a:xfrm>
        </p:grpSpPr>
        <p:sp>
          <p:nvSpPr>
            <p:cNvPr id="19" name="object 19"/>
            <p:cNvSpPr/>
            <p:nvPr/>
          </p:nvSpPr>
          <p:spPr>
            <a:xfrm>
              <a:off x="7609331" y="161086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4023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1152144"/>
                  </a:lnTo>
                  <a:lnTo>
                    <a:pt x="4304" y="1173521"/>
                  </a:lnTo>
                  <a:lnTo>
                    <a:pt x="16049" y="1190958"/>
                  </a:lnTo>
                  <a:lnTo>
                    <a:pt x="33486" y="1202703"/>
                  </a:lnTo>
                  <a:lnTo>
                    <a:pt x="54864" y="1207008"/>
                  </a:lnTo>
                  <a:lnTo>
                    <a:pt x="4023360" y="1207008"/>
                  </a:lnTo>
                  <a:lnTo>
                    <a:pt x="4044737" y="1202703"/>
                  </a:lnTo>
                  <a:lnTo>
                    <a:pt x="4062174" y="1190958"/>
                  </a:lnTo>
                  <a:lnTo>
                    <a:pt x="4073919" y="1173521"/>
                  </a:lnTo>
                  <a:lnTo>
                    <a:pt x="4078224" y="1152144"/>
                  </a:lnTo>
                  <a:lnTo>
                    <a:pt x="4078224" y="54864"/>
                  </a:lnTo>
                  <a:lnTo>
                    <a:pt x="4073919" y="33486"/>
                  </a:lnTo>
                  <a:lnTo>
                    <a:pt x="4062174" y="16049"/>
                  </a:lnTo>
                  <a:lnTo>
                    <a:pt x="4044737" y="4304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09331" y="161086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023360" y="0"/>
                  </a:lnTo>
                  <a:lnTo>
                    <a:pt x="4044737" y="4304"/>
                  </a:lnTo>
                  <a:lnTo>
                    <a:pt x="4062174" y="16049"/>
                  </a:lnTo>
                  <a:lnTo>
                    <a:pt x="4073919" y="33486"/>
                  </a:lnTo>
                  <a:lnTo>
                    <a:pt x="4078224" y="54864"/>
                  </a:lnTo>
                  <a:lnTo>
                    <a:pt x="4078224" y="1152144"/>
                  </a:lnTo>
                  <a:lnTo>
                    <a:pt x="4073919" y="1173521"/>
                  </a:lnTo>
                  <a:lnTo>
                    <a:pt x="4062174" y="1190958"/>
                  </a:lnTo>
                  <a:lnTo>
                    <a:pt x="4044737" y="1202703"/>
                  </a:lnTo>
                  <a:lnTo>
                    <a:pt x="4023360" y="1207008"/>
                  </a:lnTo>
                  <a:lnTo>
                    <a:pt x="54864" y="1207008"/>
                  </a:lnTo>
                  <a:lnTo>
                    <a:pt x="33486" y="1202703"/>
                  </a:lnTo>
                  <a:lnTo>
                    <a:pt x="16049" y="1190958"/>
                  </a:lnTo>
                  <a:lnTo>
                    <a:pt x="4304" y="1173521"/>
                  </a:lnTo>
                  <a:lnTo>
                    <a:pt x="0" y="1152144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798054" y="1728927"/>
            <a:ext cx="1108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Luay</a:t>
            </a:r>
            <a:r>
              <a:rPr dirty="0" sz="1150" spc="-1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et</a:t>
            </a:r>
            <a:r>
              <a:rPr dirty="0" sz="1150" spc="-1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al.,</a:t>
            </a:r>
            <a:r>
              <a:rPr dirty="0" sz="1150" spc="-2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spc="-20" b="1">
                <a:solidFill>
                  <a:srgbClr val="162239"/>
                </a:solidFill>
                <a:latin typeface="Cambria"/>
                <a:cs typeface="Cambria"/>
              </a:rPr>
              <a:t>2026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78133" y="1757553"/>
            <a:ext cx="55816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D7B7A"/>
                </a:solidFill>
                <a:latin typeface="Calibri"/>
                <a:cs typeface="Calibri"/>
              </a:rPr>
              <a:t>IEEE</a:t>
            </a:r>
            <a:r>
              <a:rPr dirty="0" sz="900" spc="-45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D7B7A"/>
                </a:solidFill>
                <a:latin typeface="Calibri"/>
                <a:cs typeface="Calibri"/>
              </a:rPr>
              <a:t>Access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98054" y="2081225"/>
            <a:ext cx="274510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Temporal NetFlow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features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lift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macro-F1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by up to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27%.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98054" y="2466594"/>
            <a:ext cx="222758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B36B00"/>
                </a:solidFill>
                <a:latin typeface="Calibri"/>
                <a:cs typeface="Calibri"/>
              </a:rPr>
              <a:t>Gap.</a:t>
            </a:r>
            <a:r>
              <a:rPr dirty="0" sz="950" spc="250" b="1">
                <a:solidFill>
                  <a:srgbClr val="B36B0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Benchmark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only,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never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one-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way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link.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9872" y="3416808"/>
            <a:ext cx="6913245" cy="978535"/>
            <a:chOff x="499872" y="3416808"/>
            <a:chExt cx="6913245" cy="978535"/>
          </a:xfrm>
        </p:grpSpPr>
        <p:sp>
          <p:nvSpPr>
            <p:cNvPr id="8" name="object 8"/>
            <p:cNvSpPr/>
            <p:nvPr/>
          </p:nvSpPr>
          <p:spPr>
            <a:xfrm>
              <a:off x="504444" y="3421380"/>
              <a:ext cx="6903720" cy="969644"/>
            </a:xfrm>
            <a:custGeom>
              <a:avLst/>
              <a:gdLst/>
              <a:ahLst/>
              <a:cxnLst/>
              <a:rect l="l" t="t" r="r" b="b"/>
              <a:pathLst>
                <a:path w="6903720" h="969645">
                  <a:moveTo>
                    <a:pt x="68488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914400"/>
                  </a:lnTo>
                  <a:lnTo>
                    <a:pt x="4311" y="935777"/>
                  </a:lnTo>
                  <a:lnTo>
                    <a:pt x="16068" y="953214"/>
                  </a:lnTo>
                  <a:lnTo>
                    <a:pt x="33507" y="964959"/>
                  </a:lnTo>
                  <a:lnTo>
                    <a:pt x="54864" y="969264"/>
                  </a:lnTo>
                  <a:lnTo>
                    <a:pt x="6848856" y="969264"/>
                  </a:lnTo>
                  <a:lnTo>
                    <a:pt x="6870233" y="964959"/>
                  </a:lnTo>
                  <a:lnTo>
                    <a:pt x="6887670" y="953214"/>
                  </a:lnTo>
                  <a:lnTo>
                    <a:pt x="6899415" y="935777"/>
                  </a:lnTo>
                  <a:lnTo>
                    <a:pt x="6903720" y="914400"/>
                  </a:lnTo>
                  <a:lnTo>
                    <a:pt x="6903720" y="54864"/>
                  </a:lnTo>
                  <a:lnTo>
                    <a:pt x="6899415" y="33486"/>
                  </a:lnTo>
                  <a:lnTo>
                    <a:pt x="6887670" y="16049"/>
                  </a:lnTo>
                  <a:lnTo>
                    <a:pt x="6870233" y="4304"/>
                  </a:lnTo>
                  <a:lnTo>
                    <a:pt x="6848856" y="0"/>
                  </a:lnTo>
                  <a:close/>
                </a:path>
              </a:pathLst>
            </a:custGeom>
            <a:solidFill>
              <a:srgbClr val="FAED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4444" y="3421380"/>
              <a:ext cx="6903720" cy="969644"/>
            </a:xfrm>
            <a:custGeom>
              <a:avLst/>
              <a:gdLst/>
              <a:ahLst/>
              <a:cxnLst/>
              <a:rect l="l" t="t" r="r" b="b"/>
              <a:pathLst>
                <a:path w="6903720" h="969645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6848856" y="0"/>
                  </a:lnTo>
                  <a:lnTo>
                    <a:pt x="6870233" y="4304"/>
                  </a:lnTo>
                  <a:lnTo>
                    <a:pt x="6887670" y="16049"/>
                  </a:lnTo>
                  <a:lnTo>
                    <a:pt x="6899415" y="33486"/>
                  </a:lnTo>
                  <a:lnTo>
                    <a:pt x="6903720" y="54864"/>
                  </a:lnTo>
                  <a:lnTo>
                    <a:pt x="6903720" y="914400"/>
                  </a:lnTo>
                  <a:lnTo>
                    <a:pt x="6899415" y="935777"/>
                  </a:lnTo>
                  <a:lnTo>
                    <a:pt x="6887670" y="953214"/>
                  </a:lnTo>
                  <a:lnTo>
                    <a:pt x="6870233" y="964959"/>
                  </a:lnTo>
                  <a:lnTo>
                    <a:pt x="6848856" y="969264"/>
                  </a:lnTo>
                  <a:lnTo>
                    <a:pt x="54864" y="969264"/>
                  </a:lnTo>
                  <a:lnTo>
                    <a:pt x="33507" y="964959"/>
                  </a:lnTo>
                  <a:lnTo>
                    <a:pt x="16068" y="953214"/>
                  </a:lnTo>
                  <a:lnTo>
                    <a:pt x="4311" y="935777"/>
                  </a:lnTo>
                  <a:lnTo>
                    <a:pt x="0" y="91440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E8CF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91692" y="3527805"/>
            <a:ext cx="1556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Access</a:t>
            </a:r>
            <a:r>
              <a:rPr dirty="0" sz="1200" spc="-40" b="1">
                <a:solidFill>
                  <a:srgbClr val="A62B1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we</a:t>
            </a:r>
            <a:r>
              <a:rPr dirty="0" sz="1200" spc="-45" b="1">
                <a:solidFill>
                  <a:srgbClr val="A62B1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do</a:t>
            </a:r>
            <a:r>
              <a:rPr dirty="0" sz="1200" spc="-50" b="1">
                <a:solidFill>
                  <a:srgbClr val="A62B1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62B1F"/>
                </a:solidFill>
                <a:latin typeface="Cambria"/>
                <a:cs typeface="Cambria"/>
              </a:rPr>
              <a:t>not</a:t>
            </a:r>
            <a:r>
              <a:rPr dirty="0" sz="1200" spc="-20" b="1">
                <a:solidFill>
                  <a:srgbClr val="A62B1F"/>
                </a:solidFill>
                <a:latin typeface="Cambria"/>
                <a:cs typeface="Cambria"/>
              </a:rPr>
              <a:t> have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692" y="3876497"/>
            <a:ext cx="6294755" cy="3321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Real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NTRO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diode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traffic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requires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clearance.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114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use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lab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synthetic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sources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statement</a:t>
            </a:r>
            <a:r>
              <a:rPr dirty="0" sz="950" spc="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itself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names,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match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NetFlow/IPFIX</a:t>
            </a:r>
            <a:r>
              <a:rPr dirty="0" sz="950" spc="9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schema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cleared</a:t>
            </a:r>
            <a:r>
              <a:rPr dirty="0" sz="950" spc="1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operator can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point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sensor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at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live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telemetry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without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code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changes.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604759" y="2932176"/>
            <a:ext cx="4087495" cy="1216660"/>
            <a:chOff x="7604759" y="2932176"/>
            <a:chExt cx="4087495" cy="1216660"/>
          </a:xfrm>
        </p:grpSpPr>
        <p:sp>
          <p:nvSpPr>
            <p:cNvPr id="26" name="object 26"/>
            <p:cNvSpPr/>
            <p:nvPr/>
          </p:nvSpPr>
          <p:spPr>
            <a:xfrm>
              <a:off x="7609331" y="293674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4023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52144"/>
                  </a:lnTo>
                  <a:lnTo>
                    <a:pt x="4304" y="1173521"/>
                  </a:lnTo>
                  <a:lnTo>
                    <a:pt x="16049" y="1190958"/>
                  </a:lnTo>
                  <a:lnTo>
                    <a:pt x="33486" y="1202703"/>
                  </a:lnTo>
                  <a:lnTo>
                    <a:pt x="54864" y="1207008"/>
                  </a:lnTo>
                  <a:lnTo>
                    <a:pt x="4023360" y="1207008"/>
                  </a:lnTo>
                  <a:lnTo>
                    <a:pt x="4044737" y="1202703"/>
                  </a:lnTo>
                  <a:lnTo>
                    <a:pt x="4062174" y="1190958"/>
                  </a:lnTo>
                  <a:lnTo>
                    <a:pt x="4073919" y="1173521"/>
                  </a:lnTo>
                  <a:lnTo>
                    <a:pt x="4078224" y="1152144"/>
                  </a:lnTo>
                  <a:lnTo>
                    <a:pt x="4078224" y="54863"/>
                  </a:lnTo>
                  <a:lnTo>
                    <a:pt x="4073919" y="33486"/>
                  </a:lnTo>
                  <a:lnTo>
                    <a:pt x="4062174" y="16049"/>
                  </a:lnTo>
                  <a:lnTo>
                    <a:pt x="4044737" y="4304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609331" y="2936748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023360" y="0"/>
                  </a:lnTo>
                  <a:lnTo>
                    <a:pt x="4044737" y="4304"/>
                  </a:lnTo>
                  <a:lnTo>
                    <a:pt x="4062174" y="16049"/>
                  </a:lnTo>
                  <a:lnTo>
                    <a:pt x="4073919" y="33486"/>
                  </a:lnTo>
                  <a:lnTo>
                    <a:pt x="4078224" y="54863"/>
                  </a:lnTo>
                  <a:lnTo>
                    <a:pt x="4078224" y="1152144"/>
                  </a:lnTo>
                  <a:lnTo>
                    <a:pt x="4073919" y="1173521"/>
                  </a:lnTo>
                  <a:lnTo>
                    <a:pt x="4062174" y="1190958"/>
                  </a:lnTo>
                  <a:lnTo>
                    <a:pt x="4044737" y="1202703"/>
                  </a:lnTo>
                  <a:lnTo>
                    <a:pt x="4023360" y="1207008"/>
                  </a:lnTo>
                  <a:lnTo>
                    <a:pt x="54864" y="1207008"/>
                  </a:lnTo>
                  <a:lnTo>
                    <a:pt x="33486" y="1202703"/>
                  </a:lnTo>
                  <a:lnTo>
                    <a:pt x="16049" y="1190958"/>
                  </a:lnTo>
                  <a:lnTo>
                    <a:pt x="4304" y="1173521"/>
                  </a:lnTo>
                  <a:lnTo>
                    <a:pt x="0" y="1152144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798054" y="3055442"/>
            <a:ext cx="9531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Fu et</a:t>
            </a:r>
            <a:r>
              <a:rPr dirty="0" sz="1150" spc="-1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al.,</a:t>
            </a:r>
            <a:r>
              <a:rPr dirty="0" sz="1150" spc="-3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spc="-20" b="1">
                <a:solidFill>
                  <a:srgbClr val="162239"/>
                </a:solidFill>
                <a:latin typeface="Cambria"/>
                <a:cs typeface="Cambria"/>
              </a:rPr>
              <a:t>2024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25733" y="3084067"/>
            <a:ext cx="70929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D7B7A"/>
                </a:solidFill>
                <a:latin typeface="Calibri"/>
                <a:cs typeface="Calibri"/>
              </a:rPr>
              <a:t>IEEE/ACM</a:t>
            </a:r>
            <a:r>
              <a:rPr dirty="0" sz="900" spc="-65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0D7B7A"/>
                </a:solidFill>
                <a:latin typeface="Calibri"/>
                <a:cs typeface="Calibri"/>
              </a:rPr>
              <a:t>ToN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98054" y="3407740"/>
            <a:ext cx="300609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Flow-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interaction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graphs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catch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unknown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encrypted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malware.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98054" y="3792982"/>
            <a:ext cx="194310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B36B00"/>
                </a:solidFill>
                <a:latin typeface="Calibri"/>
                <a:cs typeface="Calibri"/>
              </a:rPr>
              <a:t>Gap.</a:t>
            </a:r>
            <a:r>
              <a:rPr dirty="0" sz="950" spc="229" b="1">
                <a:solidFill>
                  <a:srgbClr val="B36B0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Assumes</a:t>
            </a:r>
            <a:r>
              <a:rPr dirty="0" sz="950" spc="-4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bidirectional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flow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pairs.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9872" y="4514088"/>
            <a:ext cx="6913245" cy="1564005"/>
            <a:chOff x="499872" y="4514088"/>
            <a:chExt cx="6913245" cy="1564005"/>
          </a:xfrm>
        </p:grpSpPr>
        <p:sp>
          <p:nvSpPr>
            <p:cNvPr id="13" name="object 13"/>
            <p:cNvSpPr/>
            <p:nvPr/>
          </p:nvSpPr>
          <p:spPr>
            <a:xfrm>
              <a:off x="504444" y="4518660"/>
              <a:ext cx="6903720" cy="1554480"/>
            </a:xfrm>
            <a:custGeom>
              <a:avLst/>
              <a:gdLst/>
              <a:ahLst/>
              <a:cxnLst/>
              <a:rect l="l" t="t" r="r" b="b"/>
              <a:pathLst>
                <a:path w="6903720" h="1554479">
                  <a:moveTo>
                    <a:pt x="68488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499615"/>
                  </a:lnTo>
                  <a:lnTo>
                    <a:pt x="4311" y="1520972"/>
                  </a:lnTo>
                  <a:lnTo>
                    <a:pt x="16068" y="1538411"/>
                  </a:lnTo>
                  <a:lnTo>
                    <a:pt x="33507" y="1550168"/>
                  </a:lnTo>
                  <a:lnTo>
                    <a:pt x="54864" y="1554480"/>
                  </a:lnTo>
                  <a:lnTo>
                    <a:pt x="6848856" y="1554480"/>
                  </a:lnTo>
                  <a:lnTo>
                    <a:pt x="6870233" y="1550168"/>
                  </a:lnTo>
                  <a:lnTo>
                    <a:pt x="6887670" y="1538411"/>
                  </a:lnTo>
                  <a:lnTo>
                    <a:pt x="6899415" y="1520972"/>
                  </a:lnTo>
                  <a:lnTo>
                    <a:pt x="6903720" y="1499615"/>
                  </a:lnTo>
                  <a:lnTo>
                    <a:pt x="6903720" y="54863"/>
                  </a:lnTo>
                  <a:lnTo>
                    <a:pt x="6899415" y="33486"/>
                  </a:lnTo>
                  <a:lnTo>
                    <a:pt x="6887670" y="16049"/>
                  </a:lnTo>
                  <a:lnTo>
                    <a:pt x="6870233" y="4304"/>
                  </a:lnTo>
                  <a:lnTo>
                    <a:pt x="6848856" y="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4444" y="4518660"/>
              <a:ext cx="6903720" cy="1554480"/>
            </a:xfrm>
            <a:custGeom>
              <a:avLst/>
              <a:gdLst/>
              <a:ahLst/>
              <a:cxnLst/>
              <a:rect l="l" t="t" r="r" b="b"/>
              <a:pathLst>
                <a:path w="6903720" h="155447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6848856" y="0"/>
                  </a:lnTo>
                  <a:lnTo>
                    <a:pt x="6870233" y="4304"/>
                  </a:lnTo>
                  <a:lnTo>
                    <a:pt x="6887670" y="16049"/>
                  </a:lnTo>
                  <a:lnTo>
                    <a:pt x="6899415" y="33486"/>
                  </a:lnTo>
                  <a:lnTo>
                    <a:pt x="6903720" y="54863"/>
                  </a:lnTo>
                  <a:lnTo>
                    <a:pt x="6903720" y="1499615"/>
                  </a:lnTo>
                  <a:lnTo>
                    <a:pt x="6899415" y="1520972"/>
                  </a:lnTo>
                  <a:lnTo>
                    <a:pt x="6887670" y="1538411"/>
                  </a:lnTo>
                  <a:lnTo>
                    <a:pt x="6870233" y="1550168"/>
                  </a:lnTo>
                  <a:lnTo>
                    <a:pt x="6848856" y="1554480"/>
                  </a:lnTo>
                  <a:lnTo>
                    <a:pt x="54864" y="1554480"/>
                  </a:lnTo>
                  <a:lnTo>
                    <a:pt x="33507" y="1550168"/>
                  </a:lnTo>
                  <a:lnTo>
                    <a:pt x="16068" y="1538411"/>
                  </a:lnTo>
                  <a:lnTo>
                    <a:pt x="4311" y="1520972"/>
                  </a:lnTo>
                  <a:lnTo>
                    <a:pt x="0" y="1499615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EAD9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91692" y="4621783"/>
            <a:ext cx="296481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30" b="1">
                <a:solidFill>
                  <a:srgbClr val="B36B00"/>
                </a:solidFill>
                <a:latin typeface="Cambria"/>
                <a:cs typeface="Cambria"/>
              </a:rPr>
              <a:t>We</a:t>
            </a:r>
            <a:r>
              <a:rPr dirty="0" sz="1250" spc="-4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spc="-10" b="1">
                <a:solidFill>
                  <a:srgbClr val="B36B00"/>
                </a:solidFill>
                <a:latin typeface="Cambria"/>
                <a:cs typeface="Cambria"/>
              </a:rPr>
              <a:t>measured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the</a:t>
            </a:r>
            <a:r>
              <a:rPr dirty="0" sz="1250" spc="-4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gap,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not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just</a:t>
            </a:r>
            <a:r>
              <a:rPr dirty="0" sz="1250" spc="-40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b="1">
                <a:solidFill>
                  <a:srgbClr val="B36B00"/>
                </a:solidFill>
                <a:latin typeface="Cambria"/>
                <a:cs typeface="Cambria"/>
              </a:rPr>
              <a:t>claimed</a:t>
            </a:r>
            <a:r>
              <a:rPr dirty="0" sz="1250" spc="-5" b="1">
                <a:solidFill>
                  <a:srgbClr val="B36B00"/>
                </a:solidFill>
                <a:latin typeface="Cambria"/>
                <a:cs typeface="Cambria"/>
              </a:rPr>
              <a:t> </a:t>
            </a:r>
            <a:r>
              <a:rPr dirty="0" sz="1250" spc="-25" b="1">
                <a:solidFill>
                  <a:srgbClr val="B36B00"/>
                </a:solidFill>
                <a:latin typeface="Cambria"/>
                <a:cs typeface="Cambria"/>
              </a:rPr>
              <a:t>it</a:t>
            </a:r>
            <a:endParaRPr sz="125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604759" y="4258055"/>
            <a:ext cx="4087495" cy="1216660"/>
            <a:chOff x="7604759" y="4258055"/>
            <a:chExt cx="4087495" cy="1216660"/>
          </a:xfrm>
        </p:grpSpPr>
        <p:sp>
          <p:nvSpPr>
            <p:cNvPr id="33" name="object 33"/>
            <p:cNvSpPr/>
            <p:nvPr/>
          </p:nvSpPr>
          <p:spPr>
            <a:xfrm>
              <a:off x="7609331" y="4262627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4023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1152144"/>
                  </a:lnTo>
                  <a:lnTo>
                    <a:pt x="4304" y="1173521"/>
                  </a:lnTo>
                  <a:lnTo>
                    <a:pt x="16049" y="1190958"/>
                  </a:lnTo>
                  <a:lnTo>
                    <a:pt x="33486" y="1202703"/>
                  </a:lnTo>
                  <a:lnTo>
                    <a:pt x="54864" y="1207008"/>
                  </a:lnTo>
                  <a:lnTo>
                    <a:pt x="4023360" y="1207008"/>
                  </a:lnTo>
                  <a:lnTo>
                    <a:pt x="4044737" y="1202703"/>
                  </a:lnTo>
                  <a:lnTo>
                    <a:pt x="4062174" y="1190958"/>
                  </a:lnTo>
                  <a:lnTo>
                    <a:pt x="4073919" y="1173521"/>
                  </a:lnTo>
                  <a:lnTo>
                    <a:pt x="4078224" y="1152144"/>
                  </a:lnTo>
                  <a:lnTo>
                    <a:pt x="4078224" y="54864"/>
                  </a:lnTo>
                  <a:lnTo>
                    <a:pt x="4073919" y="33486"/>
                  </a:lnTo>
                  <a:lnTo>
                    <a:pt x="4062174" y="16049"/>
                  </a:lnTo>
                  <a:lnTo>
                    <a:pt x="4044737" y="4304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609331" y="4262627"/>
              <a:ext cx="4078604" cy="1207135"/>
            </a:xfrm>
            <a:custGeom>
              <a:avLst/>
              <a:gdLst/>
              <a:ahLst/>
              <a:cxnLst/>
              <a:rect l="l" t="t" r="r" b="b"/>
              <a:pathLst>
                <a:path w="4078604" h="1207135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4023360" y="0"/>
                  </a:lnTo>
                  <a:lnTo>
                    <a:pt x="4044737" y="4304"/>
                  </a:lnTo>
                  <a:lnTo>
                    <a:pt x="4062174" y="16049"/>
                  </a:lnTo>
                  <a:lnTo>
                    <a:pt x="4073919" y="33486"/>
                  </a:lnTo>
                  <a:lnTo>
                    <a:pt x="4078224" y="54864"/>
                  </a:lnTo>
                  <a:lnTo>
                    <a:pt x="4078224" y="1152144"/>
                  </a:lnTo>
                  <a:lnTo>
                    <a:pt x="4073919" y="1173521"/>
                  </a:lnTo>
                  <a:lnTo>
                    <a:pt x="4062174" y="1190958"/>
                  </a:lnTo>
                  <a:lnTo>
                    <a:pt x="4044737" y="1202703"/>
                  </a:lnTo>
                  <a:lnTo>
                    <a:pt x="4023360" y="1207008"/>
                  </a:lnTo>
                  <a:lnTo>
                    <a:pt x="54864" y="1207008"/>
                  </a:lnTo>
                  <a:lnTo>
                    <a:pt x="33486" y="1202703"/>
                  </a:lnTo>
                  <a:lnTo>
                    <a:pt x="16049" y="1190958"/>
                  </a:lnTo>
                  <a:lnTo>
                    <a:pt x="4304" y="1173521"/>
                  </a:lnTo>
                  <a:lnTo>
                    <a:pt x="0" y="1152144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798054" y="4381957"/>
            <a:ext cx="120840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Benka</a:t>
            </a:r>
            <a:r>
              <a:rPr dirty="0" sz="11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et</a:t>
            </a:r>
            <a:r>
              <a:rPr dirty="0" sz="1150" spc="-5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b="1">
                <a:solidFill>
                  <a:srgbClr val="162239"/>
                </a:solidFill>
                <a:latin typeface="Cambria"/>
                <a:cs typeface="Cambria"/>
              </a:rPr>
              <a:t>al.,</a:t>
            </a:r>
            <a:r>
              <a:rPr dirty="0" sz="1150" spc="-50" b="1">
                <a:solidFill>
                  <a:srgbClr val="162239"/>
                </a:solidFill>
                <a:latin typeface="Cambria"/>
                <a:cs typeface="Cambria"/>
              </a:rPr>
              <a:t> </a:t>
            </a:r>
            <a:r>
              <a:rPr dirty="0" sz="1150" spc="-20" b="1">
                <a:solidFill>
                  <a:srgbClr val="162239"/>
                </a:solidFill>
                <a:latin typeface="Cambria"/>
                <a:cs typeface="Cambria"/>
              </a:rPr>
              <a:t>2025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78133" y="4410583"/>
            <a:ext cx="55816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D7B7A"/>
                </a:solidFill>
                <a:latin typeface="Calibri"/>
                <a:cs typeface="Calibri"/>
              </a:rPr>
              <a:t>IEEE</a:t>
            </a:r>
            <a:r>
              <a:rPr dirty="0" sz="900" spc="-45">
                <a:solidFill>
                  <a:srgbClr val="0D7B7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D7B7A"/>
                </a:solidFill>
                <a:latin typeface="Calibri"/>
                <a:cs typeface="Calibri"/>
              </a:rPr>
              <a:t>Access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98054" y="4734255"/>
            <a:ext cx="253047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ML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anomaly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detection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on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real</a:t>
            </a:r>
            <a:r>
              <a:rPr dirty="0" sz="950" spc="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ICS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TCP/IP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captures.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692" y="5102834"/>
            <a:ext cx="5426710" cy="6540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10"/>
              </a:spcBef>
              <a:buChar char="•"/>
              <a:tabLst>
                <a:tab pos="356870" algn="l"/>
              </a:tabLst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Every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dataset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</a:t>
            </a:r>
            <a:r>
              <a:rPr dirty="0" sz="950" spc="9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those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20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papers</a:t>
            </a:r>
            <a:r>
              <a:rPr dirty="0" sz="950" spc="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is</a:t>
            </a:r>
            <a:r>
              <a:rPr dirty="0" sz="950" spc="10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bidirectional.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Nobody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measures</a:t>
            </a:r>
            <a:r>
              <a:rPr dirty="0" sz="950" spc="8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what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diode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costs.</a:t>
            </a:r>
            <a:endParaRPr sz="9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20"/>
              </a:spcBef>
              <a:buChar char="•"/>
              <a:tabLst>
                <a:tab pos="356870" algn="l"/>
              </a:tabLst>
            </a:pP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So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we</a:t>
            </a:r>
            <a:r>
              <a:rPr dirty="0" sz="950" spc="8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stripped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return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direction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across</a:t>
            </a:r>
            <a:r>
              <a:rPr dirty="0" sz="950" spc="6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170</a:t>
            </a:r>
            <a:r>
              <a:rPr dirty="0" sz="950" spc="7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labelled</a:t>
            </a:r>
            <a:r>
              <a:rPr dirty="0" sz="950" spc="11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flows</a:t>
            </a:r>
            <a:r>
              <a:rPr dirty="0" sz="950" spc="7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and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scored</a:t>
            </a:r>
            <a:r>
              <a:rPr dirty="0" sz="950" spc="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the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same</a:t>
            </a:r>
            <a:r>
              <a:rPr dirty="0" sz="950" spc="6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traffic</a:t>
            </a:r>
            <a:r>
              <a:rPr dirty="0" sz="950" spc="5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both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ways.</a:t>
            </a:r>
            <a:endParaRPr sz="9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490"/>
              </a:spcBef>
              <a:buChar char="•"/>
              <a:tabLst>
                <a:tab pos="356870" algn="l"/>
              </a:tabLst>
            </a:pP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One-sided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substitute</a:t>
            </a:r>
            <a:r>
              <a:rPr dirty="0" sz="950" spc="-4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features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then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raised</a:t>
            </a:r>
            <a:r>
              <a:rPr dirty="0" sz="950" spc="3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DDoS</a:t>
            </a:r>
            <a:r>
              <a:rPr dirty="0" sz="950" spc="-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F1</a:t>
            </a:r>
            <a:r>
              <a:rPr dirty="0" sz="950" spc="2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by</a:t>
            </a:r>
            <a:r>
              <a:rPr dirty="0" sz="950" spc="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0.110.</a:t>
            </a:r>
            <a:r>
              <a:rPr dirty="0" sz="950" spc="3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3E495A"/>
                </a:solidFill>
                <a:latin typeface="Calibri"/>
                <a:cs typeface="Calibri"/>
              </a:rPr>
              <a:t>Harness: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scripts/run_ablation.py.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98054" y="5119496"/>
            <a:ext cx="210820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B36B00"/>
                </a:solidFill>
                <a:latin typeface="Calibri"/>
                <a:cs typeface="Calibri"/>
              </a:rPr>
              <a:t>Gap.</a:t>
            </a:r>
            <a:r>
              <a:rPr dirty="0" sz="950" spc="215" b="1">
                <a:solidFill>
                  <a:srgbClr val="B36B0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Inspects</a:t>
            </a:r>
            <a:r>
              <a:rPr dirty="0" sz="950" spc="-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payload,</a:t>
            </a:r>
            <a:r>
              <a:rPr dirty="0" sz="950" spc="20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E495A"/>
                </a:solidFill>
                <a:latin typeface="Calibri"/>
                <a:cs typeface="Calibri"/>
              </a:rPr>
              <a:t>not</a:t>
            </a:r>
            <a:r>
              <a:rPr dirty="0" sz="950" spc="-15">
                <a:solidFill>
                  <a:srgbClr val="3E495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E495A"/>
                </a:solidFill>
                <a:latin typeface="Calibri"/>
                <a:cs typeface="Calibri"/>
              </a:rPr>
              <a:t>unidirectional.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96885" y="5699293"/>
            <a:ext cx="4079240" cy="3194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Full</a:t>
            </a:r>
            <a:r>
              <a:rPr dirty="0" sz="900" spc="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20-paper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review</a:t>
            </a:r>
            <a:r>
              <a:rPr dirty="0" sz="900" spc="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with</a:t>
            </a:r>
            <a:r>
              <a:rPr dirty="0" sz="900" spc="-2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DOIs</a:t>
            </a:r>
            <a:r>
              <a:rPr dirty="0" sz="900" spc="-1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and</a:t>
            </a:r>
            <a:r>
              <a:rPr dirty="0" sz="900" spc="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per-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paper</a:t>
            </a:r>
            <a:r>
              <a:rPr dirty="0" sz="900" spc="-5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gap</a:t>
            </a:r>
            <a:r>
              <a:rPr dirty="0" sz="900" spc="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analysis</a:t>
            </a:r>
            <a:r>
              <a:rPr dirty="0" sz="9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attached</a:t>
            </a:r>
            <a:r>
              <a:rPr dirty="0" sz="900" spc="-4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as</a:t>
            </a:r>
            <a:r>
              <a:rPr dirty="0" sz="900" spc="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annexure.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Standards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referenced: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RFC</a:t>
            </a:r>
            <a:r>
              <a:rPr dirty="0" sz="900" spc="-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3954</a:t>
            </a:r>
            <a:r>
              <a:rPr dirty="0" sz="900" spc="-3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(NetFlow</a:t>
            </a:r>
            <a:r>
              <a:rPr dirty="0" sz="900" spc="-5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v9),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RFC</a:t>
            </a:r>
            <a:r>
              <a:rPr dirty="0" sz="900" spc="-3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7011</a:t>
            </a:r>
            <a:r>
              <a:rPr dirty="0" sz="900" spc="-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(IPFIX),</a:t>
            </a:r>
            <a:r>
              <a:rPr dirty="0" sz="900" spc="-60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JA3</a:t>
            </a:r>
            <a:r>
              <a:rPr dirty="0" sz="900" spc="-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98599"/>
                </a:solidFill>
                <a:latin typeface="Calibri"/>
                <a:cs typeface="Calibri"/>
              </a:rPr>
              <a:t>fingerprinting</a:t>
            </a:r>
            <a:r>
              <a:rPr dirty="0" sz="900" spc="-75">
                <a:solidFill>
                  <a:srgbClr val="79859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798599"/>
                </a:solidFill>
                <a:latin typeface="Calibri"/>
                <a:cs typeface="Calibri"/>
              </a:rPr>
              <a:t>spec.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SIH26145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NTRO</a:t>
            </a:r>
            <a:r>
              <a:rPr dirty="0" spc="150"/>
              <a:t> </a:t>
            </a:r>
            <a:r>
              <a:rPr dirty="0"/>
              <a:t>·</a:t>
            </a:r>
            <a:r>
              <a:rPr dirty="0" spc="210"/>
              <a:t> </a:t>
            </a:r>
            <a:r>
              <a:rPr dirty="0"/>
              <a:t>Caffeinated</a:t>
            </a:r>
            <a:r>
              <a:rPr dirty="0" spc="-45"/>
              <a:t> </a:t>
            </a:r>
            <a:r>
              <a:rPr dirty="0" spc="-10"/>
              <a:t>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2026-09-25T17:42:56Z</dcterms:created>
  <dcterms:modified xsi:type="dcterms:W3CDTF">2026-09-25T17:42:56Z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2026-09-25T00:00:00Z</vt:filetime>
  </property>
  <property fmtid="{D5CDD505-2E9C-101B-9397-08002B2CF9AE}" pid="6" name="Producer">
    <vt:lpwstr>www.ilovepdf.com</vt:lpwstr>
  </property>
</Properties>
</file>